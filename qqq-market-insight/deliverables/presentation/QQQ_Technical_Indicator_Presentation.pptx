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69" r:id="rId5"/>
    <p:sldId id="259" r:id="rId6"/>
    <p:sldId id="272" r:id="rId7"/>
    <p:sldId id="260" r:id="rId8"/>
    <p:sldId id="273" r:id="rId9"/>
    <p:sldId id="274" r:id="rId10"/>
    <p:sldId id="270" r:id="rId11"/>
    <p:sldId id="271" r:id="rId12"/>
    <p:sldId id="262" r:id="rId13"/>
    <p:sldId id="275" r:id="rId14"/>
    <p:sldId id="276" r:id="rId15"/>
    <p:sldId id="277" r:id="rId16"/>
    <p:sldId id="279" r:id="rId17"/>
    <p:sldId id="263" r:id="rId18"/>
    <p:sldId id="265" r:id="rId19"/>
    <p:sldId id="267" r:id="rId20"/>
    <p:sldId id="268" r:id="rId21"/>
    <p:sldId id="266" r:id="rId22"/>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8"/>
    <p:restoredTop sz="94660"/>
  </p:normalViewPr>
  <p:slideViewPr>
    <p:cSldViewPr snapToGrid="0">
      <p:cViewPr varScale="1">
        <p:scale>
          <a:sx n="137" d="100"/>
          <a:sy n="137" d="100"/>
        </p:scale>
        <p:origin x="5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This project asks whether common technical indicators help classify the next trading day direction of QQQ. The analysis emphasizes reproducibility and honest out-of-sample validation. Source: Nasdaq QQQ Historical Quotes, https://www.nasdaq.com/market-activity/etf/qqq/historical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three research questions. The model does not predict a precise price. It classifies the sign of the next daily return and then tests which inputs matter on dates the model never saw.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source and quality checks. The raw JSON remains unchanged. Parsing converts currency and volume strings to numeric types, sorts dates, removes duplicate dates, and audits missing values. Source: Nasdaq QQQ Historical Quotes.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F55A7-1F71-CE57-C2AC-AE3D57A45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165F5-B69D-BCEE-BEDB-0415FD6D6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9E5C3-600C-13F7-56E8-0EAB23D1E97E}"/>
              </a:ext>
            </a:extLst>
          </p:cNvPr>
          <p:cNvSpPr>
            <a:spLocks noGrp="1"/>
          </p:cNvSpPr>
          <p:nvPr>
            <p:ph type="body" idx="1"/>
          </p:nvPr>
        </p:nvSpPr>
        <p:spPr/>
        <p:txBody>
          <a:bodyPr/>
          <a:lstStyle/>
          <a:p>
            <a:r>
              <a:t>Describe the source and quality checks. The raw JSON remains unchanged. Parsing converts currency and volume strings to numeric types, sorts dates, removes duplicate dates, and audits missing values. Source: Nasdaq QQQ Historical Quotes.</a:t>
            </a:r>
          </a:p>
        </p:txBody>
      </p:sp>
      <p:sp>
        <p:nvSpPr>
          <p:cNvPr id="4" name="Slide Number Placeholder 3">
            <a:extLst>
              <a:ext uri="{FF2B5EF4-FFF2-40B4-BE49-F238E27FC236}">
                <a16:creationId xmlns:a16="http://schemas.microsoft.com/office/drawing/2014/main" id="{F5E04C4A-4198-D6A3-9C92-FBF1DE4EDA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57464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major changes in the QQQ price series. A random split would mix regimes and allow later conditions to influence model selection. The analysis therefore preserves chronological order. Source: Nasdaq data processed by the project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59A1-96A7-E553-0D7F-BCFC1FCFB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3FF32-7547-53AB-3F3B-1176E5D65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13A6E-B19A-E695-5C5D-4F969A7EB3DD}"/>
              </a:ext>
            </a:extLst>
          </p:cNvPr>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a:extLst>
              <a:ext uri="{FF2B5EF4-FFF2-40B4-BE49-F238E27FC236}">
                <a16:creationId xmlns:a16="http://schemas.microsoft.com/office/drawing/2014/main" id="{B51B118A-C79E-A96E-BA8B-FB1A51AEBD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57671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FC3FE-B285-5014-250C-ECBA58EE2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17C64-AA22-461C-B275-284B5C1D1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EA900-2834-7593-C81F-774EBC9EBDAE}"/>
              </a:ext>
            </a:extLst>
          </p:cNvPr>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a:extLst>
              <a:ext uri="{FF2B5EF4-FFF2-40B4-BE49-F238E27FC236}">
                <a16:creationId xmlns:a16="http://schemas.microsoft.com/office/drawing/2014/main" id="{DD860D0C-152A-C54A-EC10-715DFD7FFD3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09207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8CD9-9363-64A5-D5E9-3BD18CF4B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7375E-99C5-9EAF-1895-390AC0D80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3E348-6051-2CCD-A331-354496916A28}"/>
              </a:ext>
            </a:extLst>
          </p:cNvPr>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a:extLst>
              <a:ext uri="{FF2B5EF4-FFF2-40B4-BE49-F238E27FC236}">
                <a16:creationId xmlns:a16="http://schemas.microsoft.com/office/drawing/2014/main" id="{FD49CAAF-6556-31F1-F3F7-331C57C3F76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29583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E87A-3099-17C8-4DB0-EEE6C8EF0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AA309-FD8A-CCB5-0864-787D03C29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C186F-EF91-ACF2-0D5F-83D75A996E4F}"/>
              </a:ext>
            </a:extLst>
          </p:cNvPr>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a:extLst>
              <a:ext uri="{FF2B5EF4-FFF2-40B4-BE49-F238E27FC236}">
                <a16:creationId xmlns:a16="http://schemas.microsoft.com/office/drawing/2014/main" id="{D19E2F46-558D-4F87-9C67-07B9BA616E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73674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9ADE-025B-FFB6-FD72-95132977E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4D927-F7A0-0AB8-0E72-587835C23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89B5E-21CB-0B46-EEAD-768CD3AD5032}"/>
              </a:ext>
            </a:extLst>
          </p:cNvPr>
          <p:cNvSpPr>
            <a:spLocks noGrp="1"/>
          </p:cNvSpPr>
          <p:nvPr>
            <p:ph type="body" idx="1"/>
          </p:nvPr>
        </p:nvSpPr>
        <p:spPr/>
        <p:txBody>
          <a:bodyPr/>
          <a:lstStyle/>
          <a:p>
            <a:r>
              <a:t>Summarize the six EDA chart types in the report: line chart, histogram, monthly box plot, RSI scatter, correlation heatmap, and class-count bar chart. Focus on the absence of an obvious stable relationship and the need for balanced accuracy.</a:t>
            </a:r>
          </a:p>
        </p:txBody>
      </p:sp>
      <p:sp>
        <p:nvSpPr>
          <p:cNvPr id="4" name="Slide Number Placeholder 3">
            <a:extLst>
              <a:ext uri="{FF2B5EF4-FFF2-40B4-BE49-F238E27FC236}">
                <a16:creationId xmlns:a16="http://schemas.microsoft.com/office/drawing/2014/main" id="{B4E283D5-A77D-E48F-C5F7-A53D85D494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84044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Random Forest is intentionally constrained rather than tuned aggressively. The study compares it against two baselines and uses expanding validation folds so each fold trains only on earlier 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FD96-28F0-3A0F-C638-73BB076AD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D1693-1A1C-1464-982A-29A711FD94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E8997-11C1-0647-B7D2-5B19F49D329C}"/>
              </a:ext>
            </a:extLst>
          </p:cNvPr>
          <p:cNvSpPr>
            <a:spLocks noGrp="1"/>
          </p:cNvSpPr>
          <p:nvPr>
            <p:ph type="body" idx="1"/>
          </p:nvPr>
        </p:nvSpPr>
        <p:spPr/>
        <p:txBody>
          <a:bodyPr/>
          <a:lstStyle/>
          <a:p>
            <a:r>
              <a:t>The Random Forest is intentionally constrained rather than tuned aggressively. The study compares it against two baselines and uses expanding validation folds so each fold trains only on earlier dates.</a:t>
            </a:r>
          </a:p>
        </p:txBody>
      </p:sp>
      <p:sp>
        <p:nvSpPr>
          <p:cNvPr id="4" name="Slide Number Placeholder 3">
            <a:extLst>
              <a:ext uri="{FF2B5EF4-FFF2-40B4-BE49-F238E27FC236}">
                <a16:creationId xmlns:a16="http://schemas.microsoft.com/office/drawing/2014/main" id="{77ADEF31-6B18-9B87-D5B9-A9F4867BB0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77584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1CE67-75A7-2DEF-87B0-94AB24FE3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FADD1-7241-73C6-7537-843D65AC4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3C16B-87B6-3380-E1AD-B6E19D7F9F82}"/>
              </a:ext>
            </a:extLst>
          </p:cNvPr>
          <p:cNvSpPr>
            <a:spLocks noGrp="1"/>
          </p:cNvSpPr>
          <p:nvPr>
            <p:ph type="body" idx="1"/>
          </p:nvPr>
        </p:nvSpPr>
        <p:spPr/>
        <p:txBody>
          <a:bodyPr/>
          <a:lstStyle/>
          <a:p>
            <a:r>
              <a:t>The Random Forest is intentionally constrained rather than tuned aggressively. The study compares it against two baselines and uses expanding validation folds so each fold trains only on earlier dates.</a:t>
            </a:r>
          </a:p>
        </p:txBody>
      </p:sp>
      <p:sp>
        <p:nvSpPr>
          <p:cNvPr id="4" name="Slide Number Placeholder 3">
            <a:extLst>
              <a:ext uri="{FF2B5EF4-FFF2-40B4-BE49-F238E27FC236}">
                <a16:creationId xmlns:a16="http://schemas.microsoft.com/office/drawing/2014/main" id="{D8493168-0701-291B-2269-7D43EA4363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24913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41C4F-5574-D3DF-3224-4E6C51478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8D6B4-2DB3-0D1D-7D62-C19A264A0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9E23E-552E-C138-E934-97FB181ACBFD}"/>
              </a:ext>
            </a:extLst>
          </p:cNvPr>
          <p:cNvSpPr>
            <a:spLocks noGrp="1"/>
          </p:cNvSpPr>
          <p:nvPr>
            <p:ph type="body" idx="1"/>
          </p:nvPr>
        </p:nvSpPr>
        <p:spPr/>
        <p:txBody>
          <a:bodyPr/>
          <a:lstStyle/>
          <a:p>
            <a:r>
              <a:t>The Random Forest is intentionally constrained rather than tuned aggressively. The study compares it against two baselines and uses expanding validation folds so each fold trains only on earlier dates.</a:t>
            </a:r>
          </a:p>
        </p:txBody>
      </p:sp>
      <p:sp>
        <p:nvSpPr>
          <p:cNvPr id="4" name="Slide Number Placeholder 3">
            <a:extLst>
              <a:ext uri="{FF2B5EF4-FFF2-40B4-BE49-F238E27FC236}">
                <a16:creationId xmlns:a16="http://schemas.microsoft.com/office/drawing/2014/main" id="{4B0DE6F0-082A-954F-D9DA-F1E2DAF085A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64393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CCC6-E15D-E58F-63BC-EA9C709D4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C3523-7D24-3C9C-6973-68BEB2F7D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D94B9-BA64-56B9-DB8F-D49AE35DB42E}"/>
              </a:ext>
            </a:extLst>
          </p:cNvPr>
          <p:cNvSpPr>
            <a:spLocks noGrp="1"/>
          </p:cNvSpPr>
          <p:nvPr>
            <p:ph type="body" idx="1"/>
          </p:nvPr>
        </p:nvSpPr>
        <p:spPr/>
        <p:txBody>
          <a:bodyPr/>
          <a:lstStyle/>
          <a:p>
            <a:r>
              <a:t>The Random Forest is intentionally constrained rather than tuned aggressively. The study compares it against two baselines and uses expanding validation folds so each fold trains only on earlier dates.</a:t>
            </a:r>
          </a:p>
        </p:txBody>
      </p:sp>
      <p:sp>
        <p:nvSpPr>
          <p:cNvPr id="4" name="Slide Number Placeholder 3">
            <a:extLst>
              <a:ext uri="{FF2B5EF4-FFF2-40B4-BE49-F238E27FC236}">
                <a16:creationId xmlns:a16="http://schemas.microsoft.com/office/drawing/2014/main" id="{9A6BEED1-4D47-1412-784A-37FF859BEA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92484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central evaluation result. The Random Forest balanced accuracy is 0.505 and ROC AUC is 0.495. Its raw accuracy is 0.511, below the 0.543 majority baseline. These values do not support useful next-day classification.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Answer each research question directly. Avoid saying that an indicator affects or drives QQQ. The evidence supports only a weak, sample-specific ranking with no useful aggregate predictive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C937-8798-AF7D-20D9-B5A436085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6EDA7-86A3-7519-9979-B7AE1EEF1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A4E99-E0AE-0816-0078-C7251ADB23DB}"/>
              </a:ext>
            </a:extLst>
          </p:cNvPr>
          <p:cNvSpPr>
            <a:spLocks noGrp="1"/>
          </p:cNvSpPr>
          <p:nvPr>
            <p:ph type="body" idx="1"/>
          </p:nvPr>
        </p:nvSpPr>
        <p:spPr/>
        <p:txBody>
          <a:bodyPr/>
          <a:lstStyle/>
          <a:p>
            <a:r>
              <a:rPr dirty="0"/>
              <a:t>Answer each research question directly. Avoid saying that an indicator affects or drives QQQ. The evidence supports only a weak, sample-specific ranking with no useful aggregate predictive performance.</a:t>
            </a:r>
          </a:p>
        </p:txBody>
      </p:sp>
      <p:sp>
        <p:nvSpPr>
          <p:cNvPr id="4" name="Slide Number Placeholder 3">
            <a:extLst>
              <a:ext uri="{FF2B5EF4-FFF2-40B4-BE49-F238E27FC236}">
                <a16:creationId xmlns:a16="http://schemas.microsoft.com/office/drawing/2014/main" id="{5E17922D-D069-B8C5-207D-0A986592000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53382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C750C-74DE-7788-BC69-490F27618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79E54-4B6C-4F13-7FA2-5724D72F8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CA7D7-6364-4BD9-F067-4947E56FDFFE}"/>
              </a:ext>
            </a:extLst>
          </p:cNvPr>
          <p:cNvSpPr>
            <a:spLocks noGrp="1"/>
          </p:cNvSpPr>
          <p:nvPr>
            <p:ph type="body" idx="1"/>
          </p:nvPr>
        </p:nvSpPr>
        <p:spPr/>
        <p:txBody>
          <a:bodyPr/>
          <a:lstStyle/>
          <a:p>
            <a:r>
              <a:t>Answer each research question directly. Avoid saying that an indicator affects or drives QQQ. The evidence supports only a weak, sample-specific ranking with no useful aggregate predictive performance.</a:t>
            </a:r>
          </a:p>
        </p:txBody>
      </p:sp>
      <p:sp>
        <p:nvSpPr>
          <p:cNvPr id="4" name="Slide Number Placeholder 3">
            <a:extLst>
              <a:ext uri="{FF2B5EF4-FFF2-40B4-BE49-F238E27FC236}">
                <a16:creationId xmlns:a16="http://schemas.microsoft.com/office/drawing/2014/main" id="{436DEC64-0DE0-2939-C4AA-F3910F54FD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72326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emphasizing the value of the engineering process. A weak predictive result is a valid result. Future work must preserve release timestamps, use rolling evaluation, and test economic value after costs before any trading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ED7497-0FDE-448D-B57E-E85C5E6C044A}"/>
              </a:ext>
            </a:extLst>
          </p:cNvPr>
          <p:cNvSpPr>
            <a:spLocks noGrp="1"/>
          </p:cNvSpPr>
          <p:nvPr/>
        </p:nvSpPr>
        <p:spPr>
          <a:xfrm>
            <a:off x="742950" y="1285875"/>
            <a:ext cx="9525000" cy="1619250"/>
          </a:xfrm>
          <a:prstGeom prst="rect">
            <a:avLst/>
          </a:prstGeom>
          <a:noFill/>
          <a:ln w="0">
            <a:noFill/>
          </a:ln>
        </p:spPr>
        <p:txBody>
          <a:bodyPr anchor="ctr"/>
          <a:lstStyle/>
          <a:p>
            <a:pPr algn="l">
              <a:defRPr sz="3750" b="1">
                <a:solidFill>
                  <a:srgbClr val="FFFFFF"/>
                </a:solidFill>
                <a:latin typeface="Helvetica Neue"/>
                <a:ea typeface="Helvetica Neue"/>
                <a:cs typeface="Helvetica Neue"/>
              </a:defRPr>
            </a:pPr>
            <a:endParaRPr lang="en-US" sz="2400" b="1" dirty="0">
              <a:solidFill>
                <a:srgbClr val="FFFFFF"/>
              </a:solidFill>
              <a:latin typeface="Helvetica Neue"/>
              <a:ea typeface="Helvetica Neue"/>
              <a:cs typeface="Helvetica Neue"/>
            </a:endParaRPr>
          </a:p>
          <a:p>
            <a:pPr algn="l">
              <a:defRPr sz="3750" b="1">
                <a:solidFill>
                  <a:srgbClr val="FFFFFF"/>
                </a:solidFill>
                <a:latin typeface="Helvetica Neue"/>
                <a:ea typeface="Helvetica Neue"/>
                <a:cs typeface="Helvetica Neue"/>
              </a:defRPr>
            </a:pPr>
            <a:r>
              <a:rPr lang="en-US" sz="2800" b="1" dirty="0">
                <a:solidFill>
                  <a:srgbClr val="FFFFFF"/>
                </a:solidFill>
                <a:latin typeface="Helvetica Neue"/>
                <a:ea typeface="Helvetica Neue"/>
                <a:cs typeface="Helvetica Neue"/>
              </a:rPr>
              <a:t>Financial Market Trends of the QQQ ETF</a:t>
            </a:r>
          </a:p>
          <a:p>
            <a:pPr>
              <a:defRPr sz="3750" b="1">
                <a:solidFill>
                  <a:srgbClr val="FFFFFF"/>
                </a:solidFill>
                <a:latin typeface="Helvetica Neue"/>
                <a:ea typeface="Helvetica Neue"/>
                <a:cs typeface="Helvetica Neue"/>
              </a:defRPr>
            </a:pPr>
            <a:r>
              <a:rPr lang="en-TH" sz="2800" b="1" dirty="0">
                <a:solidFill>
                  <a:srgbClr val="FFFFFF"/>
                </a:solidFill>
                <a:latin typeface="Helvetica Neue"/>
              </a:rPr>
              <a:t>“Machine Learning Analysis of Technical Indicators </a:t>
            </a:r>
          </a:p>
          <a:p>
            <a:pPr>
              <a:defRPr sz="3750" b="1">
                <a:solidFill>
                  <a:srgbClr val="FFFFFF"/>
                </a:solidFill>
                <a:latin typeface="Helvetica Neue"/>
                <a:ea typeface="Helvetica Neue"/>
                <a:cs typeface="Helvetica Neue"/>
              </a:defRPr>
            </a:pPr>
            <a:r>
              <a:rPr lang="en-TH" sz="2800" b="1" dirty="0">
                <a:solidFill>
                  <a:srgbClr val="FFFFFF"/>
                </a:solidFill>
                <a:latin typeface="Helvetica Neue"/>
              </a:rPr>
              <a:t>and Market Trends in the Invesco QQQ ETF”</a:t>
            </a:r>
            <a:endParaRPr lang="en-TH" sz="2800" dirty="0">
              <a:solidFill>
                <a:srgbClr val="FFFFFF"/>
              </a:solidFill>
              <a:latin typeface="Helvetica Neue"/>
            </a:endParaRPr>
          </a:p>
          <a:p>
            <a:pPr algn="l">
              <a:defRPr sz="3750" b="1">
                <a:solidFill>
                  <a:srgbClr val="FFFFFF"/>
                </a:solidFill>
                <a:latin typeface="Helvetica Neue"/>
                <a:ea typeface="Helvetica Neue"/>
                <a:cs typeface="Helvetica Neue"/>
              </a:defRPr>
            </a:pPr>
            <a:endParaRPr sz="3750" b="1" dirty="0">
              <a:solidFill>
                <a:srgbClr val="FFFFF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0F49DD0C-A9D0-4F3F-B6D2-B724F8D04EF3}"/>
              </a:ext>
            </a:extLst>
          </p:cNvPr>
          <p:cNvSpPr>
            <a:spLocks noGrp="1"/>
          </p:cNvSpPr>
          <p:nvPr/>
        </p:nvSpPr>
        <p:spPr>
          <a:xfrm>
            <a:off x="781050" y="2799761"/>
            <a:ext cx="8572500" cy="1470581"/>
          </a:xfrm>
          <a:prstGeom prst="rect">
            <a:avLst/>
          </a:prstGeom>
          <a:noFill/>
          <a:ln w="0">
            <a:noFill/>
          </a:ln>
        </p:spPr>
        <p:txBody>
          <a:bodyPr anchor="ctr"/>
          <a:lstStyle/>
          <a:p>
            <a:endParaRPr lang="en-US" sz="1875" dirty="0">
              <a:solidFill>
                <a:srgbClr val="CFE7FF"/>
              </a:solidFill>
              <a:latin typeface="Helvetica Neue"/>
              <a:ea typeface="Helvetica Neue"/>
              <a:cs typeface="Helvetica Neue"/>
            </a:endParaRPr>
          </a:p>
          <a:p>
            <a:r>
              <a:rPr lang="en-US" sz="1875" dirty="0">
                <a:solidFill>
                  <a:srgbClr val="CFE7FF"/>
                </a:solidFill>
                <a:latin typeface="Helvetica Neue"/>
                <a:ea typeface="Helvetica Neue"/>
                <a:cs typeface="Helvetica Neue"/>
              </a:rPr>
              <a:t>Analyzes daily QQQ OHLCV data over the configured multiyear period and investigates which technical indicators are useful for classifying the next trading day’s price direction.</a:t>
            </a:r>
            <a:r>
              <a:rPr lang="en-TH" dirty="0"/>
              <a:t>.</a:t>
            </a:r>
            <a:endParaRPr sz="1875" b="0" dirty="0">
              <a:solidFill>
                <a:srgbClr val="CFE7FF"/>
              </a:solidFill>
              <a:latin typeface="Helvetica Neue"/>
              <a:ea typeface="Helvetica Neue"/>
              <a:cs typeface="Helvetica Neue"/>
            </a:endParaRPr>
          </a:p>
        </p:txBody>
      </p:sp>
      <p:sp>
        <p:nvSpPr>
          <p:cNvPr id="3" name="Rectangle 2">
            <a:extLst>
              <a:ext uri="{FF2B5EF4-FFF2-40B4-BE49-F238E27FC236}">
                <a16:creationId xmlns:a16="http://schemas.microsoft.com/office/drawing/2014/main" id="{443D05E3-9B91-4191-B9CD-A44336B21EB6}"/>
              </a:ext>
            </a:extLst>
          </p:cNvPr>
          <p:cNvSpPr>
            <a:spLocks noGrp="1"/>
          </p:cNvSpPr>
          <p:nvPr/>
        </p:nvSpPr>
        <p:spPr>
          <a:xfrm>
            <a:off x="781050" y="4857750"/>
            <a:ext cx="5238750" cy="333375"/>
          </a:xfrm>
          <a:prstGeom prst="rect">
            <a:avLst/>
          </a:prstGeom>
          <a:noFill/>
          <a:ln w="0">
            <a:noFill/>
          </a:ln>
        </p:spPr>
        <p:txBody>
          <a:bodyPr anchor="ctr"/>
          <a:lstStyle/>
          <a:p>
            <a:pPr algn="l">
              <a:defRPr sz="1650" b="1">
                <a:solidFill>
                  <a:srgbClr val="FFFFFF"/>
                </a:solidFill>
                <a:latin typeface="Helvetica Neue"/>
                <a:ea typeface="Helvetica Neue"/>
                <a:cs typeface="Helvetica Neue"/>
              </a:defRPr>
            </a:pPr>
            <a:r>
              <a:rPr sz="1650" b="1" dirty="0">
                <a:solidFill>
                  <a:srgbClr val="FFFFFF"/>
                </a:solidFill>
                <a:latin typeface="Helvetica Neue"/>
                <a:ea typeface="Helvetica Neue"/>
                <a:cs typeface="Helvetica Neue"/>
              </a:rPr>
              <a:t>Big Data Analytics Project</a:t>
            </a:r>
          </a:p>
        </p:txBody>
      </p:sp>
      <p:sp>
        <p:nvSpPr>
          <p:cNvPr id="4" name="Rectangle 3">
            <a:extLst>
              <a:ext uri="{FF2B5EF4-FFF2-40B4-BE49-F238E27FC236}">
                <a16:creationId xmlns:a16="http://schemas.microsoft.com/office/drawing/2014/main" id="{1AF6E8F6-EC6D-4B59-B1C0-D77E3EC0D367}"/>
              </a:ext>
            </a:extLst>
          </p:cNvPr>
          <p:cNvSpPr>
            <a:spLocks noGrp="1"/>
          </p:cNvSpPr>
          <p:nvPr/>
        </p:nvSpPr>
        <p:spPr>
          <a:xfrm>
            <a:off x="781050" y="5286375"/>
            <a:ext cx="9048750" cy="323850"/>
          </a:xfrm>
          <a:prstGeom prst="rect">
            <a:avLst/>
          </a:prstGeom>
          <a:noFill/>
          <a:ln w="0">
            <a:noFill/>
          </a:ln>
        </p:spPr>
        <p:txBody>
          <a:bodyPr anchor="ctr"/>
          <a:lstStyle/>
          <a:p>
            <a:pPr algn="l">
              <a:defRPr sz="1425" b="0">
                <a:solidFill>
                  <a:srgbClr val="CFE7FF"/>
                </a:solidFill>
                <a:latin typeface="Helvetica Neue"/>
                <a:ea typeface="Helvetica Neue"/>
                <a:cs typeface="Helvetica Neue"/>
              </a:defRPr>
            </a:pPr>
            <a:r>
              <a:rPr sz="1425" b="0" dirty="0">
                <a:solidFill>
                  <a:srgbClr val="CFE7FF"/>
                </a:solidFill>
                <a:latin typeface="Helvetica Neue"/>
                <a:ea typeface="Helvetica Neue"/>
                <a:cs typeface="Helvetica Neue"/>
              </a:rPr>
              <a:t>1,4</a:t>
            </a:r>
            <a:r>
              <a:rPr lang="en-US" sz="1425" b="0" dirty="0">
                <a:solidFill>
                  <a:srgbClr val="CFE7FF"/>
                </a:solidFill>
                <a:latin typeface="Helvetica Neue"/>
                <a:ea typeface="Helvetica Neue"/>
                <a:cs typeface="Helvetica Neue"/>
              </a:rPr>
              <a:t>3</a:t>
            </a:r>
            <a:r>
              <a:rPr lang="en-US" sz="1425" dirty="0">
                <a:solidFill>
                  <a:srgbClr val="CFE7FF"/>
                </a:solidFill>
                <a:latin typeface="Helvetica Neue"/>
                <a:ea typeface="Helvetica Neue"/>
                <a:cs typeface="Helvetica Neue"/>
              </a:rPr>
              <a:t>3</a:t>
            </a:r>
            <a:r>
              <a:rPr sz="1425" b="0" dirty="0">
                <a:solidFill>
                  <a:srgbClr val="CFE7FF"/>
                </a:solidFill>
                <a:latin typeface="Helvetica Neue"/>
                <a:ea typeface="Helvetica Neue"/>
                <a:cs typeface="Helvetica Neue"/>
              </a:rPr>
              <a:t> daily observations  |  Nasdaq historical quotes  |  2021–2026</a:t>
            </a:r>
          </a:p>
        </p:txBody>
      </p:sp>
      <p:sp>
        <p:nvSpPr>
          <p:cNvPr id="5" name="Rectangle 4">
            <a:extLst>
              <a:ext uri="{FF2B5EF4-FFF2-40B4-BE49-F238E27FC236}">
                <a16:creationId xmlns:a16="http://schemas.microsoft.com/office/drawing/2014/main" id="{CD5540EE-A0EA-4F4E-A0D9-352DB6A8BC5C}"/>
              </a:ext>
            </a:extLst>
          </p:cNvPr>
          <p:cNvSpPr>
            <a:spLocks noGrp="1"/>
          </p:cNvSpPr>
          <p:nvPr/>
        </p:nvSpPr>
        <p:spPr>
          <a:xfrm>
            <a:off x="781050" y="5857875"/>
            <a:ext cx="5715000" cy="285750"/>
          </a:xfrm>
          <a:prstGeom prst="rect">
            <a:avLst/>
          </a:prstGeom>
          <a:noFill/>
          <a:ln w="0">
            <a:noFill/>
          </a:ln>
        </p:spPr>
        <p:txBody>
          <a:bodyPr anchor="ctr"/>
          <a:lstStyle/>
          <a:p>
            <a:pPr>
              <a:defRPr sz="1350" b="0">
                <a:solidFill>
                  <a:srgbClr val="FFFFFF"/>
                </a:solidFill>
                <a:latin typeface="Helvetica Neue"/>
                <a:ea typeface="Helvetica Neue"/>
                <a:cs typeface="Helvetica Neue"/>
              </a:defRPr>
            </a:pPr>
            <a:r>
              <a:rPr lang="en-US" sz="1350" b="0" dirty="0">
                <a:solidFill>
                  <a:srgbClr val="FFFFFF"/>
                </a:solidFill>
                <a:latin typeface="Helvetica Neue"/>
                <a:ea typeface="Helvetica Neue"/>
                <a:cs typeface="Helvetica Neue"/>
              </a:rPr>
              <a:t>Tien Hanprab</a:t>
            </a:r>
            <a:r>
              <a:rPr sz="1350" b="0" dirty="0">
                <a:solidFill>
                  <a:srgbClr val="FFFFFF"/>
                </a:solidFill>
                <a:latin typeface="Helvetica Neue"/>
                <a:ea typeface="Helvetica Neue"/>
                <a:cs typeface="Helvetica Neue"/>
              </a:rPr>
              <a:t>: </a:t>
            </a:r>
            <a:r>
              <a:rPr lang="en-US" sz="1350" b="0" dirty="0">
                <a:solidFill>
                  <a:srgbClr val="FFFFFF"/>
                </a:solidFill>
                <a:latin typeface="Helvetica Neue"/>
                <a:ea typeface="Helvetica Neue"/>
                <a:cs typeface="Helvetica Neue"/>
              </a:rPr>
              <a:t>D6900557</a:t>
            </a:r>
            <a:endParaRPr sz="1350" b="0" dirty="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896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98970D-4829-43CA-93B3-D75AAA598238}"/>
              </a:ext>
            </a:extLst>
          </p:cNvPr>
          <p:cNvSpPr>
            <a:spLocks noGrp="1"/>
          </p:cNvSpPr>
          <p:nvPr/>
        </p:nvSpPr>
        <p:spPr>
          <a:xfrm>
            <a:off x="609600" y="342900"/>
            <a:ext cx="10668000" cy="571500"/>
          </a:xfrm>
          <a:prstGeom prst="rect">
            <a:avLst/>
          </a:prstGeom>
          <a:noFill/>
          <a:ln w="0">
            <a:noFill/>
          </a:ln>
        </p:spPr>
        <p:txBody>
          <a:bodyPr anchor="ctr"/>
          <a:lstStyle/>
          <a:p>
            <a:pPr algn="l">
              <a:defRPr sz="2550" b="1">
                <a:solidFill>
                  <a:srgbClr val="16324F"/>
                </a:solidFill>
                <a:latin typeface="Helvetica Neue"/>
                <a:ea typeface="Helvetica Neue"/>
                <a:cs typeface="Helvetica Neue"/>
              </a:defRPr>
            </a:pPr>
            <a:r>
              <a:rPr sz="2550" b="1">
                <a:solidFill>
                  <a:srgbClr val="16324F"/>
                </a:solidFill>
                <a:latin typeface="Helvetica Neue"/>
                <a:ea typeface="Helvetica Neue"/>
                <a:cs typeface="Helvetica Neue"/>
              </a:rPr>
              <a:t>Research questions</a:t>
            </a:r>
          </a:p>
        </p:txBody>
      </p:sp>
      <p:sp>
        <p:nvSpPr>
          <p:cNvPr id="2" name="Rectangle 1">
            <a:extLst>
              <a:ext uri="{FF2B5EF4-FFF2-40B4-BE49-F238E27FC236}">
                <a16:creationId xmlns:a16="http://schemas.microsoft.com/office/drawing/2014/main" id="{DA157D1A-DC99-4197-9391-C0279305A056}"/>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2</a:t>
            </a:r>
          </a:p>
        </p:txBody>
      </p:sp>
      <p:sp>
        <p:nvSpPr>
          <p:cNvPr id="3" name="Rectangle 2">
            <a:extLst>
              <a:ext uri="{FF2B5EF4-FFF2-40B4-BE49-F238E27FC236}">
                <a16:creationId xmlns:a16="http://schemas.microsoft.com/office/drawing/2014/main" id="{66554F66-6CEB-4AB7-A7B3-7082C2B1430A}"/>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42E48BC4-B9E0-4EE0-8CD8-80E6B0FE6CA1}"/>
              </a:ext>
            </a:extLst>
          </p:cNvPr>
          <p:cNvSpPr>
            <a:spLocks noGrp="1"/>
          </p:cNvSpPr>
          <p:nvPr/>
        </p:nvSpPr>
        <p:spPr>
          <a:xfrm>
            <a:off x="762000" y="1476375"/>
            <a:ext cx="1047750" cy="381000"/>
          </a:xfrm>
          <a:prstGeom prst="rect">
            <a:avLst/>
          </a:prstGeom>
          <a:noFill/>
          <a:ln w="0">
            <a:noFill/>
          </a:ln>
        </p:spPr>
        <p:txBody>
          <a:bodyPr anchor="ctr"/>
          <a:lstStyle/>
          <a:p>
            <a:pPr algn="l">
              <a:defRPr sz="2100" b="1">
                <a:solidFill>
                  <a:srgbClr val="2F80ED"/>
                </a:solidFill>
                <a:latin typeface="Helvetica Neue"/>
                <a:ea typeface="Helvetica Neue"/>
                <a:cs typeface="Helvetica Neue"/>
              </a:defRPr>
            </a:pPr>
            <a:r>
              <a:rPr sz="2100" b="1">
                <a:solidFill>
                  <a:srgbClr val="2F80ED"/>
                </a:solidFill>
                <a:latin typeface="Helvetica Neue"/>
                <a:ea typeface="Helvetica Neue"/>
                <a:cs typeface="Helvetica Neue"/>
              </a:rPr>
              <a:t>RQ1</a:t>
            </a:r>
          </a:p>
        </p:txBody>
      </p:sp>
      <p:sp>
        <p:nvSpPr>
          <p:cNvPr id="5" name="Rectangle 4">
            <a:extLst>
              <a:ext uri="{FF2B5EF4-FFF2-40B4-BE49-F238E27FC236}">
                <a16:creationId xmlns:a16="http://schemas.microsoft.com/office/drawing/2014/main" id="{05AE15C7-49A2-44E2-BF96-9AEF79C1345B}"/>
              </a:ext>
            </a:extLst>
          </p:cNvPr>
          <p:cNvSpPr>
            <a:spLocks noGrp="1"/>
          </p:cNvSpPr>
          <p:nvPr/>
        </p:nvSpPr>
        <p:spPr>
          <a:xfrm>
            <a:off x="1809750" y="1247775"/>
            <a:ext cx="8763000" cy="1285875"/>
          </a:xfrm>
          <a:prstGeom prst="rect">
            <a:avLst/>
          </a:prstGeom>
          <a:noFill/>
          <a:ln w="0">
            <a:noFill/>
          </a:ln>
        </p:spPr>
        <p:txBody>
          <a:bodyPr anchor="ctr"/>
          <a:lstStyle/>
          <a:p>
            <a:pPr>
              <a:defRPr sz="2100" b="1">
                <a:solidFill>
                  <a:srgbClr val="1F2933"/>
                </a:solidFill>
                <a:latin typeface="Helvetica Neue"/>
                <a:ea typeface="Helvetica Neue"/>
                <a:cs typeface="Helvetica Neue"/>
              </a:defRPr>
            </a:pPr>
            <a:r>
              <a:rPr lang="en-TH" sz="2100" b="1" dirty="0">
                <a:solidFill>
                  <a:srgbClr val="1F2933"/>
                </a:solidFill>
                <a:latin typeface="Helvetica Neue"/>
              </a:rPr>
              <a:t>What are the major price, return, volume, and volatility patterns of QQQ during the configured analysis period?</a:t>
            </a:r>
            <a:endParaRPr lang="th-TH" sz="2100" b="1" dirty="0">
              <a:solidFill>
                <a:srgbClr val="1F2933"/>
              </a:solidFill>
              <a:latin typeface="Helvetica Neue"/>
            </a:endParaRPr>
          </a:p>
          <a:p>
            <a:pPr>
              <a:defRPr sz="2100" b="1">
                <a:solidFill>
                  <a:srgbClr val="1F2933"/>
                </a:solidFill>
                <a:latin typeface="Helvetica Neue"/>
                <a:ea typeface="Helvetica Neue"/>
                <a:cs typeface="Helvetica Neue"/>
              </a:defRPr>
            </a:pPr>
            <a:r>
              <a:rPr lang="en-TH" sz="2100" b="1" dirty="0">
                <a:solidFill>
                  <a:srgbClr val="1F2933"/>
                </a:solidFill>
                <a:latin typeface="Helvetica Neue"/>
              </a:rPr>
              <a:t>รูปแบบสำคัญของราคา ผลตอบแทน ปริมาณการซื้อขาย และความผันผวนของ QQQ ในช่วงเวลาที่กำหนดสำหรับการวิเคราะห์มีลักษณะอย่างไร? </a:t>
            </a:r>
            <a:r>
              <a:rPr lang="en-US" sz="2100" b="1" dirty="0">
                <a:solidFill>
                  <a:srgbClr val="1F2933"/>
                </a:solidFill>
                <a:latin typeface="Helvetica Neue"/>
                <a:ea typeface="Helvetica Neue"/>
                <a:cs typeface="Helvetica Neue"/>
              </a:rPr>
              <a:t> </a:t>
            </a:r>
            <a:endParaRPr sz="2100" b="1" dirty="0">
              <a:solidFill>
                <a:srgbClr val="1F2933"/>
              </a:solidFill>
              <a:latin typeface="Helvetica Neue"/>
              <a:ea typeface="Helvetica Neue"/>
              <a:cs typeface="Helvetica Neue"/>
            </a:endParaRPr>
          </a:p>
        </p:txBody>
      </p:sp>
      <p:sp>
        <p:nvSpPr>
          <p:cNvPr id="6" name="Rectangle 5">
            <a:extLst>
              <a:ext uri="{FF2B5EF4-FFF2-40B4-BE49-F238E27FC236}">
                <a16:creationId xmlns:a16="http://schemas.microsoft.com/office/drawing/2014/main" id="{29C63DE5-5EE0-4AAA-883C-855AC280AB29}"/>
              </a:ext>
            </a:extLst>
          </p:cNvPr>
          <p:cNvSpPr>
            <a:spLocks noGrp="1"/>
          </p:cNvSpPr>
          <p:nvPr/>
        </p:nvSpPr>
        <p:spPr>
          <a:xfrm>
            <a:off x="762000" y="2809874"/>
            <a:ext cx="1047750" cy="381000"/>
          </a:xfrm>
          <a:prstGeom prst="rect">
            <a:avLst/>
          </a:prstGeom>
          <a:noFill/>
          <a:ln w="0">
            <a:noFill/>
          </a:ln>
        </p:spPr>
        <p:txBody>
          <a:bodyPr anchor="ctr"/>
          <a:lstStyle/>
          <a:p>
            <a:pPr algn="l">
              <a:defRPr sz="2100" b="1">
                <a:solidFill>
                  <a:srgbClr val="219EBC"/>
                </a:solidFill>
                <a:latin typeface="Helvetica Neue"/>
                <a:ea typeface="Helvetica Neue"/>
                <a:cs typeface="Helvetica Neue"/>
              </a:defRPr>
            </a:pPr>
            <a:r>
              <a:rPr sz="2100" b="1">
                <a:solidFill>
                  <a:srgbClr val="219EBC"/>
                </a:solidFill>
                <a:latin typeface="Helvetica Neue"/>
                <a:ea typeface="Helvetica Neue"/>
                <a:cs typeface="Helvetica Neue"/>
              </a:rPr>
              <a:t>RQ2</a:t>
            </a:r>
          </a:p>
        </p:txBody>
      </p:sp>
      <p:sp>
        <p:nvSpPr>
          <p:cNvPr id="7" name="Rectangle 6">
            <a:extLst>
              <a:ext uri="{FF2B5EF4-FFF2-40B4-BE49-F238E27FC236}">
                <a16:creationId xmlns:a16="http://schemas.microsoft.com/office/drawing/2014/main" id="{8D8C29C8-7497-4698-B1DF-4BD1DDFCAC46}"/>
              </a:ext>
            </a:extLst>
          </p:cNvPr>
          <p:cNvSpPr>
            <a:spLocks noGrp="1"/>
          </p:cNvSpPr>
          <p:nvPr/>
        </p:nvSpPr>
        <p:spPr>
          <a:xfrm>
            <a:off x="1809750" y="2619375"/>
            <a:ext cx="8763000" cy="1142999"/>
          </a:xfrm>
          <a:prstGeom prst="rect">
            <a:avLst/>
          </a:prstGeom>
          <a:noFill/>
          <a:ln w="0">
            <a:noFill/>
          </a:ln>
        </p:spPr>
        <p:txBody>
          <a:bodyPr anchor="ctr"/>
          <a:lstStyle/>
          <a:p>
            <a:pPr>
              <a:defRPr sz="2100" b="1">
                <a:solidFill>
                  <a:srgbClr val="1F2933"/>
                </a:solidFill>
                <a:latin typeface="Helvetica Neue"/>
                <a:ea typeface="Helvetica Neue"/>
                <a:cs typeface="Helvetica Neue"/>
              </a:defRPr>
            </a:pPr>
            <a:r>
              <a:rPr lang="en-TH" sz="2100" b="1" dirty="0">
                <a:solidFill>
                  <a:srgbClr val="1F2933"/>
                </a:solidFill>
                <a:latin typeface="Helvetica Neue"/>
              </a:rPr>
              <a:t>Which technical indicators are the most important features for classifying QQQ's next-day price direction?</a:t>
            </a:r>
            <a:endParaRPr lang="th-TH" sz="2100" b="1" dirty="0">
              <a:solidFill>
                <a:srgbClr val="1F2933"/>
              </a:solidFill>
              <a:latin typeface="Helvetica Neue"/>
            </a:endParaRPr>
          </a:p>
          <a:p>
            <a:pPr>
              <a:defRPr sz="2100" b="1">
                <a:solidFill>
                  <a:srgbClr val="1F2933"/>
                </a:solidFill>
                <a:latin typeface="Helvetica Neue"/>
                <a:ea typeface="Helvetica Neue"/>
                <a:cs typeface="Helvetica Neue"/>
              </a:defRPr>
            </a:pPr>
            <a:r>
              <a:rPr lang="en-TH" sz="2100" b="1" dirty="0">
                <a:solidFill>
                  <a:srgbClr val="1F2933"/>
                </a:solidFill>
                <a:latin typeface="Helvetica Neue"/>
              </a:rPr>
              <a:t>ตัวชี้วัดทางเทคนิค</a:t>
            </a:r>
            <a:r>
              <a:rPr lang="th-TH" sz="2100" b="1" dirty="0">
                <a:solidFill>
                  <a:srgbClr val="1F2933"/>
                </a:solidFill>
                <a:latin typeface="Helvetica Neue"/>
              </a:rPr>
              <a:t> </a:t>
            </a:r>
            <a:r>
              <a:rPr lang="en-TH" sz="2100" b="1" dirty="0">
                <a:solidFill>
                  <a:srgbClr val="1F2933"/>
                </a:solidFill>
                <a:latin typeface="Helvetica Neue"/>
              </a:rPr>
              <a:t>Technical Indicators</a:t>
            </a:r>
            <a:r>
              <a:rPr lang="th-TH" sz="2100" b="1" dirty="0">
                <a:solidFill>
                  <a:srgbClr val="1F2933"/>
                </a:solidFill>
                <a:latin typeface="Helvetica Neue"/>
              </a:rPr>
              <a:t> </a:t>
            </a:r>
            <a:r>
              <a:rPr lang="en-TH" sz="2100" b="1" dirty="0">
                <a:solidFill>
                  <a:srgbClr val="1F2933"/>
                </a:solidFill>
                <a:latin typeface="Helvetica Neue"/>
              </a:rPr>
              <a:t>ใดเป็นฟีเจอร์ที่สำคัญที่สุดสำหรับการจำแนกทิศทางราคาของ QQQ ในวันถัดไป?</a:t>
            </a:r>
            <a:endParaRPr sz="2100" b="1" dirty="0">
              <a:solidFill>
                <a:srgbClr val="1F2933"/>
              </a:solidFill>
              <a:latin typeface="Helvetica Neue"/>
              <a:ea typeface="Helvetica Neue"/>
              <a:cs typeface="Helvetica Neue"/>
            </a:endParaRPr>
          </a:p>
        </p:txBody>
      </p:sp>
      <p:sp>
        <p:nvSpPr>
          <p:cNvPr id="8" name="Rectangle 7">
            <a:extLst>
              <a:ext uri="{FF2B5EF4-FFF2-40B4-BE49-F238E27FC236}">
                <a16:creationId xmlns:a16="http://schemas.microsoft.com/office/drawing/2014/main" id="{B4384305-4D6C-47FF-ADC8-4EA3D4F988C8}"/>
              </a:ext>
            </a:extLst>
          </p:cNvPr>
          <p:cNvSpPr>
            <a:spLocks noGrp="1"/>
          </p:cNvSpPr>
          <p:nvPr/>
        </p:nvSpPr>
        <p:spPr>
          <a:xfrm>
            <a:off x="762000" y="4048125"/>
            <a:ext cx="1047750" cy="381000"/>
          </a:xfrm>
          <a:prstGeom prst="rect">
            <a:avLst/>
          </a:prstGeom>
          <a:noFill/>
          <a:ln w="0">
            <a:noFill/>
          </a:ln>
        </p:spPr>
        <p:txBody>
          <a:bodyPr anchor="ctr"/>
          <a:lstStyle/>
          <a:p>
            <a:pPr algn="l">
              <a:defRPr sz="2100" b="1">
                <a:solidFill>
                  <a:srgbClr val="F2994A"/>
                </a:solidFill>
                <a:latin typeface="Helvetica Neue"/>
                <a:ea typeface="Helvetica Neue"/>
                <a:cs typeface="Helvetica Neue"/>
              </a:defRPr>
            </a:pPr>
            <a:r>
              <a:rPr sz="2100" b="1">
                <a:solidFill>
                  <a:srgbClr val="F2994A"/>
                </a:solidFill>
                <a:latin typeface="Helvetica Neue"/>
                <a:ea typeface="Helvetica Neue"/>
                <a:cs typeface="Helvetica Neue"/>
              </a:rPr>
              <a:t>RQ3</a:t>
            </a:r>
          </a:p>
        </p:txBody>
      </p:sp>
      <p:sp>
        <p:nvSpPr>
          <p:cNvPr id="9" name="Rectangle 8">
            <a:extLst>
              <a:ext uri="{FF2B5EF4-FFF2-40B4-BE49-F238E27FC236}">
                <a16:creationId xmlns:a16="http://schemas.microsoft.com/office/drawing/2014/main" id="{9D0B13A8-2547-43C2-8707-D2641A5EDB54}"/>
              </a:ext>
            </a:extLst>
          </p:cNvPr>
          <p:cNvSpPr>
            <a:spLocks noGrp="1"/>
          </p:cNvSpPr>
          <p:nvPr/>
        </p:nvSpPr>
        <p:spPr>
          <a:xfrm>
            <a:off x="1809750" y="4000500"/>
            <a:ext cx="8763000" cy="1143000"/>
          </a:xfrm>
          <a:prstGeom prst="rect">
            <a:avLst/>
          </a:prstGeom>
          <a:noFill/>
          <a:ln w="0">
            <a:noFill/>
          </a:ln>
        </p:spPr>
        <p:txBody>
          <a:bodyPr anchor="ctr"/>
          <a:lstStyle/>
          <a:p>
            <a:pPr>
              <a:defRPr sz="2100" b="1">
                <a:solidFill>
                  <a:srgbClr val="1F2933"/>
                </a:solidFill>
                <a:latin typeface="Helvetica Neue"/>
                <a:ea typeface="Helvetica Neue"/>
                <a:cs typeface="Helvetica Neue"/>
              </a:defRPr>
            </a:pPr>
            <a:r>
              <a:rPr lang="en-TH" sz="2100" b="1" dirty="0">
                <a:solidFill>
                  <a:srgbClr val="1F2933"/>
                </a:solidFill>
                <a:latin typeface="Helvetica Neue"/>
              </a:rPr>
              <a:t>Does the Gradient Boosting</a:t>
            </a:r>
            <a:r>
              <a:rPr lang="th-TH" sz="2100" b="1" dirty="0">
                <a:solidFill>
                  <a:srgbClr val="1F2933"/>
                </a:solidFill>
                <a:latin typeface="Helvetica Neue"/>
              </a:rPr>
              <a:t> </a:t>
            </a:r>
            <a:r>
              <a:rPr lang="en-TH" sz="2100" b="1" dirty="0">
                <a:solidFill>
                  <a:srgbClr val="1F2933"/>
                </a:solidFill>
                <a:latin typeface="Helvetica Neue"/>
              </a:rPr>
              <a:t>classifier perform better than a simple baseline on unseen chronological data? </a:t>
            </a:r>
            <a:endParaRPr lang="th-TH" sz="2100" b="1" dirty="0">
              <a:solidFill>
                <a:srgbClr val="1F2933"/>
              </a:solidFill>
              <a:latin typeface="Helvetica Neue"/>
            </a:endParaRPr>
          </a:p>
          <a:p>
            <a:pPr>
              <a:defRPr sz="2100" b="1">
                <a:solidFill>
                  <a:srgbClr val="1F2933"/>
                </a:solidFill>
                <a:latin typeface="Helvetica Neue"/>
                <a:ea typeface="Helvetica Neue"/>
                <a:cs typeface="Helvetica Neue"/>
              </a:defRPr>
            </a:pPr>
            <a:r>
              <a:rPr lang="en-TH" sz="2100" b="1" dirty="0">
                <a:solidFill>
                  <a:srgbClr val="1F2933"/>
                </a:solidFill>
                <a:latin typeface="Helvetica Neue"/>
              </a:rPr>
              <a:t>โมเดลจำแนกประเภท Gradient Boosting</a:t>
            </a:r>
            <a:r>
              <a:rPr lang="th-TH" sz="2100" b="1" dirty="0">
                <a:solidFill>
                  <a:srgbClr val="1F2933"/>
                </a:solidFill>
                <a:latin typeface="Helvetica Neue"/>
              </a:rPr>
              <a:t> </a:t>
            </a:r>
            <a:r>
              <a:rPr lang="en-TH" sz="2100" b="1" dirty="0">
                <a:solidFill>
                  <a:srgbClr val="1F2933"/>
                </a:solidFill>
                <a:latin typeface="Helvetica Neue"/>
              </a:rPr>
              <a:t>ทำงานได้ดีกว่าวิธีพื้นฐานแบบง่าย</a:t>
            </a:r>
            <a:r>
              <a:rPr lang="th-TH" sz="2100" b="1" dirty="0">
                <a:solidFill>
                  <a:srgbClr val="1F2933"/>
                </a:solidFill>
                <a:latin typeface="Helvetica Neue"/>
              </a:rPr>
              <a:t> </a:t>
            </a:r>
            <a:r>
              <a:rPr lang="en-TH" sz="2100" b="1" dirty="0">
                <a:solidFill>
                  <a:srgbClr val="1F2933"/>
                </a:solidFill>
                <a:latin typeface="Helvetica Neue"/>
              </a:rPr>
              <a:t>simple baseline</a:t>
            </a:r>
            <a:r>
              <a:rPr lang="th-TH" sz="2100" b="1" dirty="0">
                <a:solidFill>
                  <a:srgbClr val="1F2933"/>
                </a:solidFill>
                <a:latin typeface="Helvetica Neue"/>
              </a:rPr>
              <a:t> </a:t>
            </a:r>
            <a:r>
              <a:rPr lang="en-TH" sz="2100" b="1" dirty="0">
                <a:solidFill>
                  <a:srgbClr val="1F2933"/>
                </a:solidFill>
                <a:latin typeface="Helvetica Neue"/>
              </a:rPr>
              <a:t> หรือไม่</a:t>
            </a:r>
            <a:r>
              <a:rPr lang="th-TH" sz="2100" b="1" dirty="0">
                <a:solidFill>
                  <a:srgbClr val="1F2933"/>
                </a:solidFill>
                <a:latin typeface="Helvetica Neue"/>
              </a:rPr>
              <a:t> </a:t>
            </a:r>
            <a:r>
              <a:rPr lang="en-TH" sz="2100" b="1" dirty="0">
                <a:solidFill>
                  <a:srgbClr val="1F2933"/>
                </a:solidFill>
                <a:latin typeface="Helvetica Neue"/>
              </a:rPr>
              <a:t>เมื่อทดสอบกับข้อมูลตามลำดับเวลาที่โมเดลไม่เคยเห็นมาก่อน?</a:t>
            </a:r>
            <a:endParaRPr sz="2100" b="1" dirty="0">
              <a:solidFill>
                <a:srgbClr val="1F2933"/>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BD3905A0-E359-44B7-BBDB-092A98F12AE3}"/>
              </a:ext>
            </a:extLst>
          </p:cNvPr>
          <p:cNvSpPr>
            <a:spLocks noGrp="1"/>
          </p:cNvSpPr>
          <p:nvPr/>
        </p:nvSpPr>
        <p:spPr>
          <a:xfrm>
            <a:off x="1809750" y="5238750"/>
            <a:ext cx="8191500" cy="457200"/>
          </a:xfrm>
          <a:prstGeom prst="rect">
            <a:avLst/>
          </a:prstGeom>
          <a:noFill/>
          <a:ln w="0">
            <a:noFill/>
          </a:ln>
        </p:spPr>
        <p:txBody>
          <a:bodyPr anchor="ctr"/>
          <a:lstStyle/>
          <a:p>
            <a:pPr algn="l">
              <a:defRPr sz="1650" b="0">
                <a:solidFill>
                  <a:srgbClr val="6B7280"/>
                </a:solidFill>
                <a:latin typeface="Helvetica Neue"/>
                <a:ea typeface="Helvetica Neue"/>
                <a:cs typeface="Helvetica Neue"/>
              </a:defRPr>
            </a:pPr>
            <a:r>
              <a:rPr sz="1650" b="0">
                <a:solidFill>
                  <a:srgbClr val="6B7280"/>
                </a:solidFill>
                <a:latin typeface="Helvetica Neue"/>
                <a:ea typeface="Helvetica Neue"/>
                <a:cs typeface="Helvetica Neue"/>
              </a:rPr>
              <a:t>Target: 1 when close(t+1) &gt; close(t), otherwise 0</a:t>
            </a:r>
          </a:p>
        </p:txBody>
      </p:sp>
    </p:spTree>
    <p:extLst>
      <p:ext uri="{BB962C8B-B14F-4D97-AF65-F5344CB8AC3E}">
        <p14:creationId xmlns:p14="http://schemas.microsoft.com/office/powerpoint/2010/main" val="862637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0410C2E-A12A-4E48-8120-D30F8472AD94}"/>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Introduction &amp; Objectives </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ECCC9271-72E0-48E6-A3A5-7390780782AE}"/>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3</a:t>
            </a:r>
          </a:p>
        </p:txBody>
      </p:sp>
      <p:sp>
        <p:nvSpPr>
          <p:cNvPr id="3" name="Rectangle 2">
            <a:extLst>
              <a:ext uri="{FF2B5EF4-FFF2-40B4-BE49-F238E27FC236}">
                <a16:creationId xmlns:a16="http://schemas.microsoft.com/office/drawing/2014/main" id="{4E6A772B-97DC-4937-B6D7-1C1E261C631D}"/>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11" name="Rectangle 10">
            <a:extLst>
              <a:ext uri="{FF2B5EF4-FFF2-40B4-BE49-F238E27FC236}">
                <a16:creationId xmlns:a16="http://schemas.microsoft.com/office/drawing/2014/main" id="{8329E260-3931-4635-BDE0-DC46F7DA601A}"/>
              </a:ext>
            </a:extLst>
          </p:cNvPr>
          <p:cNvSpPr>
            <a:spLocks noGrp="1"/>
          </p:cNvSpPr>
          <p:nvPr/>
        </p:nvSpPr>
        <p:spPr>
          <a:xfrm>
            <a:off x="857250" y="4038600"/>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endParaRPr sz="1725" b="1" dirty="0">
              <a:solidFill>
                <a:srgbClr val="2F80ED"/>
              </a:solidFill>
              <a:latin typeface="Helvetica Neue"/>
              <a:ea typeface="Helvetica Neue"/>
              <a:cs typeface="Helvetica Neue"/>
            </a:endParaRPr>
          </a:p>
        </p:txBody>
      </p:sp>
      <p:sp>
        <p:nvSpPr>
          <p:cNvPr id="13" name="Rectangle 12">
            <a:extLst>
              <a:ext uri="{FF2B5EF4-FFF2-40B4-BE49-F238E27FC236}">
                <a16:creationId xmlns:a16="http://schemas.microsoft.com/office/drawing/2014/main" id="{2C0C2C89-1E9A-433B-8973-BB7031E4D4C7}"/>
              </a:ext>
            </a:extLst>
          </p:cNvPr>
          <p:cNvSpPr>
            <a:spLocks noGrp="1"/>
          </p:cNvSpPr>
          <p:nvPr/>
        </p:nvSpPr>
        <p:spPr>
          <a:xfrm>
            <a:off x="6381750" y="1381125"/>
            <a:ext cx="4286250" cy="428625"/>
          </a:xfrm>
          <a:prstGeom prst="rect">
            <a:avLst/>
          </a:prstGeom>
          <a:noFill/>
          <a:ln w="0">
            <a:noFill/>
          </a:ln>
        </p:spPr>
        <p:txBody>
          <a:bodyPr anchor="ctr"/>
          <a:lstStyle/>
          <a:p>
            <a:pPr algn="l">
              <a:defRPr sz="2250" b="1">
                <a:solidFill>
                  <a:srgbClr val="16324F"/>
                </a:solidFill>
                <a:latin typeface="Helvetica Neue"/>
                <a:ea typeface="Helvetica Neue"/>
                <a:cs typeface="Helvetica Neue"/>
              </a:defRPr>
            </a:pPr>
            <a:r>
              <a:rPr lang="en-US" sz="2250" b="1" dirty="0">
                <a:solidFill>
                  <a:srgbClr val="16324F"/>
                </a:solidFill>
                <a:latin typeface="Helvetica Neue"/>
                <a:ea typeface="Helvetica Neue"/>
                <a:cs typeface="Helvetica Neue"/>
              </a:rPr>
              <a:t>Objectives</a:t>
            </a:r>
            <a:endParaRPr sz="2250" b="1" dirty="0">
              <a:solidFill>
                <a:srgbClr val="16324F"/>
              </a:solidFill>
              <a:latin typeface="Helvetica Neue"/>
              <a:ea typeface="Helvetica Neue"/>
              <a:cs typeface="Helvetica Neue"/>
            </a:endParaRPr>
          </a:p>
        </p:txBody>
      </p:sp>
      <p:sp>
        <p:nvSpPr>
          <p:cNvPr id="20" name="Rectangle 19">
            <a:extLst>
              <a:ext uri="{FF2B5EF4-FFF2-40B4-BE49-F238E27FC236}">
                <a16:creationId xmlns:a16="http://schemas.microsoft.com/office/drawing/2014/main" id="{F6D2E9D6-6529-4DA1-838E-BC9DD0E3DD6A}"/>
              </a:ext>
            </a:extLst>
          </p:cNvPr>
          <p:cNvSpPr>
            <a:spLocks noGrp="1"/>
          </p:cNvSpPr>
          <p:nvPr/>
        </p:nvSpPr>
        <p:spPr>
          <a:xfrm>
            <a:off x="800099" y="3742736"/>
            <a:ext cx="4978531" cy="904089"/>
          </a:xfrm>
          <a:prstGeom prst="rect">
            <a:avLst/>
          </a:prstGeom>
          <a:noFill/>
          <a:ln w="0">
            <a:noFill/>
          </a:ln>
        </p:spPr>
        <p:txBody>
          <a:bodyPr anchor="ctr"/>
          <a:lstStyle/>
          <a:p>
            <a:pPr>
              <a:defRPr sz="1725" b="1">
                <a:solidFill>
                  <a:srgbClr val="219EBC"/>
                </a:solidFill>
                <a:latin typeface="Helvetica Neue"/>
                <a:ea typeface="Helvetica Neue"/>
                <a:cs typeface="Helvetica Neue"/>
              </a:defRPr>
            </a:pPr>
            <a:r>
              <a:rPr lang="en-TH" sz="1400" b="1" dirty="0">
                <a:solidFill>
                  <a:srgbClr val="219EBC"/>
                </a:solidFill>
                <a:latin typeface="Helvetica Neue"/>
              </a:rPr>
              <a:t>To identify and rank the technical indicators that are most important for machine-learning classification of QQQ’s next-day price direction.</a:t>
            </a:r>
          </a:p>
        </p:txBody>
      </p:sp>
      <p:sp>
        <p:nvSpPr>
          <p:cNvPr id="22" name="Rectangle 21">
            <a:extLst>
              <a:ext uri="{FF2B5EF4-FFF2-40B4-BE49-F238E27FC236}">
                <a16:creationId xmlns:a16="http://schemas.microsoft.com/office/drawing/2014/main" id="{E41B91CC-CFC3-8207-32D3-1EA31B2ACFD3}"/>
              </a:ext>
            </a:extLst>
          </p:cNvPr>
          <p:cNvSpPr>
            <a:spLocks noGrp="1"/>
          </p:cNvSpPr>
          <p:nvPr/>
        </p:nvSpPr>
        <p:spPr>
          <a:xfrm>
            <a:off x="762000" y="1428750"/>
            <a:ext cx="3143250" cy="400050"/>
          </a:xfrm>
          <a:prstGeom prst="rect">
            <a:avLst/>
          </a:prstGeom>
          <a:noFill/>
          <a:ln w="0">
            <a:noFill/>
          </a:ln>
        </p:spPr>
        <p:txBody>
          <a:bodyPr anchor="ctr"/>
          <a:lstStyle/>
          <a:p>
            <a:pPr algn="l">
              <a:defRPr sz="2025" b="1">
                <a:solidFill>
                  <a:srgbClr val="16324F"/>
                </a:solidFill>
                <a:latin typeface="Helvetica Neue"/>
                <a:ea typeface="Helvetica Neue"/>
                <a:cs typeface="Helvetica Neue"/>
              </a:defRPr>
            </a:pPr>
            <a:r>
              <a:rPr lang="en-US" sz="2025" b="1" dirty="0">
                <a:solidFill>
                  <a:srgbClr val="16324F"/>
                </a:solidFill>
                <a:latin typeface="Helvetica Neue"/>
                <a:ea typeface="Helvetica Neue"/>
                <a:cs typeface="Helvetica Neue"/>
              </a:rPr>
              <a:t>Intro.</a:t>
            </a:r>
            <a:endParaRPr sz="2025" b="1" dirty="0">
              <a:solidFill>
                <a:srgbClr val="16324F"/>
              </a:solidFill>
              <a:latin typeface="Helvetica Neue"/>
              <a:ea typeface="Helvetica Neue"/>
              <a:cs typeface="Helvetica Neue"/>
            </a:endParaRPr>
          </a:p>
        </p:txBody>
      </p:sp>
      <p:sp>
        <p:nvSpPr>
          <p:cNvPr id="23" name="Rectangle 22">
            <a:extLst>
              <a:ext uri="{FF2B5EF4-FFF2-40B4-BE49-F238E27FC236}">
                <a16:creationId xmlns:a16="http://schemas.microsoft.com/office/drawing/2014/main" id="{EE3C7040-12D9-1616-B8CD-1DB7B7B03A69}"/>
              </a:ext>
            </a:extLst>
          </p:cNvPr>
          <p:cNvSpPr>
            <a:spLocks noGrp="1"/>
          </p:cNvSpPr>
          <p:nvPr/>
        </p:nvSpPr>
        <p:spPr>
          <a:xfrm>
            <a:off x="762001" y="1828800"/>
            <a:ext cx="5016630" cy="1960775"/>
          </a:xfrm>
          <a:prstGeom prst="rect">
            <a:avLst/>
          </a:prstGeom>
          <a:noFill/>
          <a:ln w="0">
            <a:noFill/>
          </a:ln>
        </p:spPr>
        <p:txBody>
          <a:bodyPr anchor="ctr"/>
          <a:lstStyle/>
          <a:p>
            <a:pPr>
              <a:defRPr sz="1725" b="0">
                <a:solidFill>
                  <a:srgbClr val="1F2933"/>
                </a:solidFill>
                <a:latin typeface="Helvetica Neue"/>
                <a:ea typeface="Helvetica Neue"/>
                <a:cs typeface="Helvetica Neue"/>
              </a:defRPr>
            </a:pPr>
            <a:r>
              <a:rPr lang="en-TH" sz="1400" dirty="0">
                <a:solidFill>
                  <a:srgbClr val="1F2933"/>
                </a:solidFill>
                <a:latin typeface="Helvetica Neue"/>
              </a:rPr>
              <a:t>Financial markets generate massive volumes of high-velocity data, making them a prime domain for Big Data Analytics. The Invesco QQQ Trust (QQQ), an exchange-traded fund tracking the Nasdaq-100 index, exhibits high volatility driven by the technology sector. </a:t>
            </a:r>
          </a:p>
          <a:p>
            <a:pPr>
              <a:defRPr sz="1725" b="0">
                <a:solidFill>
                  <a:srgbClr val="1F2933"/>
                </a:solidFill>
                <a:latin typeface="Helvetica Neue"/>
                <a:ea typeface="Helvetica Neue"/>
                <a:cs typeface="Helvetica Neue"/>
              </a:defRPr>
            </a:pPr>
            <a:endParaRPr lang="en-TH" sz="1400" dirty="0">
              <a:solidFill>
                <a:srgbClr val="1F2933"/>
              </a:solidFill>
              <a:latin typeface="Helvetica Neue"/>
            </a:endParaRPr>
          </a:p>
          <a:p>
            <a:pPr>
              <a:defRPr sz="1725" b="0">
                <a:solidFill>
                  <a:srgbClr val="1F2933"/>
                </a:solidFill>
                <a:latin typeface="Helvetica Neue"/>
                <a:ea typeface="Helvetica Neue"/>
                <a:cs typeface="Helvetica Neue"/>
              </a:defRPr>
            </a:pPr>
            <a:r>
              <a:rPr lang="en-TH" sz="1400" dirty="0">
                <a:solidFill>
                  <a:srgbClr val="1F2933"/>
                </a:solidFill>
                <a:latin typeface="Helvetica Neue"/>
              </a:rPr>
              <a:t>In this project, we apply Explainable Artificial Intelligence (XAI) to 5 years of historical QQQ data. The primary objectives are to </a:t>
            </a:r>
            <a:endParaRPr sz="1400" b="0" dirty="0">
              <a:solidFill>
                <a:srgbClr val="1F2933"/>
              </a:solidFill>
              <a:latin typeface="Helvetica Neue"/>
              <a:ea typeface="Helvetica Neue"/>
              <a:cs typeface="Helvetica Neue"/>
            </a:endParaRPr>
          </a:p>
        </p:txBody>
      </p:sp>
      <p:sp>
        <p:nvSpPr>
          <p:cNvPr id="24" name="Rectangle 23">
            <a:extLst>
              <a:ext uri="{FF2B5EF4-FFF2-40B4-BE49-F238E27FC236}">
                <a16:creationId xmlns:a16="http://schemas.microsoft.com/office/drawing/2014/main" id="{ABD70D8B-9BCC-964C-4DFC-A5BB28855537}"/>
              </a:ext>
            </a:extLst>
          </p:cNvPr>
          <p:cNvSpPr>
            <a:spLocks noGrp="1"/>
          </p:cNvSpPr>
          <p:nvPr/>
        </p:nvSpPr>
        <p:spPr>
          <a:xfrm>
            <a:off x="800099" y="4769963"/>
            <a:ext cx="4978531" cy="644755"/>
          </a:xfrm>
          <a:prstGeom prst="rect">
            <a:avLst/>
          </a:prstGeom>
          <a:noFill/>
          <a:ln w="0">
            <a:noFill/>
          </a:ln>
        </p:spPr>
        <p:txBody>
          <a:bodyPr anchor="ctr"/>
          <a:lstStyle/>
          <a:p>
            <a:pPr>
              <a:defRPr sz="1725" b="1">
                <a:solidFill>
                  <a:srgbClr val="219EBC"/>
                </a:solidFill>
                <a:latin typeface="Helvetica Neue"/>
                <a:ea typeface="Helvetica Neue"/>
                <a:cs typeface="Helvetica Neue"/>
              </a:defRPr>
            </a:pPr>
            <a:r>
              <a:rPr lang="en-TH" sz="1400" b="1" dirty="0">
                <a:solidFill>
                  <a:srgbClr val="219EBC"/>
                </a:solidFill>
                <a:latin typeface="Helvetica Neue"/>
              </a:rPr>
              <a:t>Develop and compare machine learning models (Logistic Regression, Random Forest, Gradient Boosting) against a majority-class baseline.</a:t>
            </a:r>
          </a:p>
        </p:txBody>
      </p:sp>
      <p:sp>
        <p:nvSpPr>
          <p:cNvPr id="25" name="Rectangle 24">
            <a:extLst>
              <a:ext uri="{FF2B5EF4-FFF2-40B4-BE49-F238E27FC236}">
                <a16:creationId xmlns:a16="http://schemas.microsoft.com/office/drawing/2014/main" id="{A8480FFD-0BB9-6769-F8A8-7B45F9F5127E}"/>
              </a:ext>
            </a:extLst>
          </p:cNvPr>
          <p:cNvSpPr>
            <a:spLocks noGrp="1"/>
          </p:cNvSpPr>
          <p:nvPr/>
        </p:nvSpPr>
        <p:spPr>
          <a:xfrm>
            <a:off x="800099" y="5537856"/>
            <a:ext cx="4978531" cy="644755"/>
          </a:xfrm>
          <a:prstGeom prst="rect">
            <a:avLst/>
          </a:prstGeom>
          <a:noFill/>
          <a:ln w="0">
            <a:noFill/>
          </a:ln>
        </p:spPr>
        <p:txBody>
          <a:bodyPr anchor="ctr"/>
          <a:lstStyle/>
          <a:p>
            <a:pPr>
              <a:defRPr sz="1725" b="1">
                <a:solidFill>
                  <a:srgbClr val="219EBC"/>
                </a:solidFill>
                <a:latin typeface="Helvetica Neue"/>
                <a:ea typeface="Helvetica Neue"/>
                <a:cs typeface="Helvetica Neue"/>
              </a:defRPr>
            </a:pPr>
            <a:r>
              <a:rPr lang="en-TH" sz="1400" b="1" dirty="0">
                <a:solidFill>
                  <a:srgbClr val="219EBC"/>
                </a:solidFill>
                <a:latin typeface="Helvetica Neue"/>
              </a:rPr>
              <a:t>Extract actionable market insights to overcome "information overload" in algorithmic trading strategies.</a:t>
            </a:r>
          </a:p>
        </p:txBody>
      </p:sp>
      <p:pic>
        <p:nvPicPr>
          <p:cNvPr id="29" name="Picture 28">
            <a:extLst>
              <a:ext uri="{FF2B5EF4-FFF2-40B4-BE49-F238E27FC236}">
                <a16:creationId xmlns:a16="http://schemas.microsoft.com/office/drawing/2014/main" id="{1C99870C-5690-B7F1-216B-FBC67F603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6728" y="1883499"/>
            <a:ext cx="5903182" cy="3291521"/>
          </a:xfrm>
          <a:prstGeom prst="rect">
            <a:avLst/>
          </a:prstGeom>
        </p:spPr>
      </p:pic>
    </p:spTree>
    <p:extLst>
      <p:ext uri="{BB962C8B-B14F-4D97-AF65-F5344CB8AC3E}">
        <p14:creationId xmlns:p14="http://schemas.microsoft.com/office/powerpoint/2010/main" val="1305072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6A28-1F5B-B3E6-5EBD-569FB1CA2F5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1DBD44B4-95D2-5356-FE7C-EBDF84AA7FDA}"/>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Data Source &amp; Pipeline</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8569F7F9-4BC6-47A0-A3FC-989068DA137C}"/>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3</a:t>
            </a:r>
          </a:p>
        </p:txBody>
      </p:sp>
      <p:sp>
        <p:nvSpPr>
          <p:cNvPr id="3" name="Rectangle 2">
            <a:extLst>
              <a:ext uri="{FF2B5EF4-FFF2-40B4-BE49-F238E27FC236}">
                <a16:creationId xmlns:a16="http://schemas.microsoft.com/office/drawing/2014/main" id="{F49F42D8-1D80-B417-8130-9299CC9994FD}"/>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99A03718-8FFB-5B4E-8856-405A413FD2A7}"/>
              </a:ext>
            </a:extLst>
          </p:cNvPr>
          <p:cNvSpPr>
            <a:spLocks noGrp="1"/>
          </p:cNvSpPr>
          <p:nvPr/>
        </p:nvSpPr>
        <p:spPr>
          <a:xfrm>
            <a:off x="761999" y="1381125"/>
            <a:ext cx="5048251" cy="857250"/>
          </a:xfrm>
          <a:prstGeom prst="rect">
            <a:avLst/>
          </a:prstGeom>
          <a:noFill/>
          <a:ln w="0">
            <a:noFill/>
          </a:ln>
        </p:spPr>
        <p:txBody>
          <a:bodyPr anchor="ctr"/>
          <a:lstStyle/>
          <a:p>
            <a:pPr>
              <a:defRPr sz="2250" b="1">
                <a:solidFill>
                  <a:srgbClr val="16324F"/>
                </a:solidFill>
                <a:latin typeface="Helvetica Neue"/>
                <a:ea typeface="Helvetica Neue"/>
                <a:cs typeface="Helvetica Neue"/>
              </a:defRPr>
            </a:pPr>
            <a:r>
              <a:rPr lang="en-TH" sz="1400" b="1" dirty="0">
                <a:solidFill>
                  <a:srgbClr val="16324F"/>
                </a:solidFill>
                <a:latin typeface="Helvetica Neue"/>
              </a:rPr>
              <a:t>The dataset consists of 1,433 daily trading rows for the QQQ ETF, representing a 5-year period from January 4, 2021, to September 17, 2026. Data was collected directly via the official Nasdaq API. </a:t>
            </a:r>
            <a:endParaRPr sz="1400" b="1" dirty="0">
              <a:solidFill>
                <a:srgbClr val="16324F"/>
              </a:solidFill>
              <a:latin typeface="Helvetica Neue"/>
              <a:ea typeface="Helvetica Neue"/>
              <a:cs typeface="Helvetica Neue"/>
            </a:endParaRPr>
          </a:p>
        </p:txBody>
      </p:sp>
      <p:sp>
        <p:nvSpPr>
          <p:cNvPr id="5" name="Rectangle 4">
            <a:extLst>
              <a:ext uri="{FF2B5EF4-FFF2-40B4-BE49-F238E27FC236}">
                <a16:creationId xmlns:a16="http://schemas.microsoft.com/office/drawing/2014/main" id="{63A3DE04-F352-AA8F-0B3A-8215A82DDB9C}"/>
              </a:ext>
            </a:extLst>
          </p:cNvPr>
          <p:cNvSpPr>
            <a:spLocks noGrp="1"/>
          </p:cNvSpPr>
          <p:nvPr/>
        </p:nvSpPr>
        <p:spPr>
          <a:xfrm>
            <a:off x="857250" y="2434868"/>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r>
              <a:rPr sz="1725" b="1">
                <a:solidFill>
                  <a:srgbClr val="2F80ED"/>
                </a:solidFill>
                <a:latin typeface="Helvetica Neue"/>
                <a:ea typeface="Helvetica Neue"/>
                <a:cs typeface="Helvetica Neue"/>
              </a:rPr>
              <a:t>•</a:t>
            </a:r>
          </a:p>
        </p:txBody>
      </p:sp>
      <p:sp>
        <p:nvSpPr>
          <p:cNvPr id="6" name="Rectangle 5">
            <a:extLst>
              <a:ext uri="{FF2B5EF4-FFF2-40B4-BE49-F238E27FC236}">
                <a16:creationId xmlns:a16="http://schemas.microsoft.com/office/drawing/2014/main" id="{A552353F-2526-AB6E-C49B-07C749CCEC9E}"/>
              </a:ext>
            </a:extLst>
          </p:cNvPr>
          <p:cNvSpPr>
            <a:spLocks noGrp="1"/>
          </p:cNvSpPr>
          <p:nvPr/>
        </p:nvSpPr>
        <p:spPr>
          <a:xfrm>
            <a:off x="1181100" y="2434868"/>
            <a:ext cx="3108096" cy="457200"/>
          </a:xfrm>
          <a:prstGeom prst="rect">
            <a:avLst/>
          </a:prstGeom>
          <a:noFill/>
          <a:ln w="0">
            <a:noFill/>
          </a:ln>
        </p:spPr>
        <p:txBody>
          <a:bodyPr anchor="ctr"/>
          <a:lstStyle/>
          <a:p>
            <a:pPr algn="l">
              <a:defRPr sz="1725" b="0">
                <a:solidFill>
                  <a:srgbClr val="1F2933"/>
                </a:solidFill>
                <a:latin typeface="Helvetica Neue"/>
                <a:ea typeface="Helvetica Neue"/>
                <a:cs typeface="Helvetica Neue"/>
              </a:defRPr>
            </a:pPr>
            <a:r>
              <a:rPr lang="en-US" sz="1725" b="0" dirty="0">
                <a:solidFill>
                  <a:srgbClr val="1F2933"/>
                </a:solidFill>
                <a:latin typeface="Helvetica Neue"/>
                <a:ea typeface="Helvetica Neue"/>
                <a:cs typeface="Helvetica Neue"/>
              </a:rPr>
              <a:t>Raw Data Set: </a:t>
            </a:r>
            <a:r>
              <a:rPr sz="1725" b="0" dirty="0">
                <a:solidFill>
                  <a:srgbClr val="1F2933"/>
                </a:solidFill>
                <a:latin typeface="Helvetica Neue"/>
                <a:ea typeface="Helvetica Neue"/>
                <a:cs typeface="Helvetica Neue"/>
              </a:rPr>
              <a:t>1,43</a:t>
            </a:r>
            <a:r>
              <a:rPr lang="en-US" sz="1725" b="0" dirty="0">
                <a:solidFill>
                  <a:srgbClr val="1F2933"/>
                </a:solidFill>
                <a:latin typeface="Helvetica Neue"/>
                <a:ea typeface="Helvetica Neue"/>
                <a:cs typeface="Helvetica Neue"/>
              </a:rPr>
              <a:t>3</a:t>
            </a:r>
            <a:r>
              <a:rPr lang="en-US" sz="1725" dirty="0">
                <a:solidFill>
                  <a:srgbClr val="1F2933"/>
                </a:solidFill>
                <a:latin typeface="Helvetica Neue"/>
                <a:ea typeface="Helvetica Neue"/>
                <a:cs typeface="Helvetica Neue"/>
              </a:rPr>
              <a:t> </a:t>
            </a:r>
            <a:r>
              <a:rPr sz="1725" b="0" dirty="0">
                <a:solidFill>
                  <a:srgbClr val="1F2933"/>
                </a:solidFill>
                <a:latin typeface="Helvetica Neue"/>
                <a:ea typeface="Helvetica Neue"/>
                <a:cs typeface="Helvetica Neue"/>
              </a:rPr>
              <a:t>rows</a:t>
            </a:r>
            <a:r>
              <a:rPr lang="en-US" sz="1725" b="0" dirty="0">
                <a:solidFill>
                  <a:srgbClr val="1F2933"/>
                </a:solidFill>
                <a:latin typeface="Helvetica Neue"/>
                <a:ea typeface="Helvetica Neue"/>
                <a:cs typeface="Helvetica Neue"/>
              </a:rPr>
              <a:t> trading-day records</a:t>
            </a:r>
            <a:endParaRPr sz="1725" b="0" dirty="0">
              <a:solidFill>
                <a:srgbClr val="1F2933"/>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9A87A850-A388-783A-9BBC-139DDE2CE6B6}"/>
              </a:ext>
            </a:extLst>
          </p:cNvPr>
          <p:cNvSpPr>
            <a:spLocks noGrp="1"/>
          </p:cNvSpPr>
          <p:nvPr/>
        </p:nvSpPr>
        <p:spPr>
          <a:xfrm>
            <a:off x="857250" y="3082568"/>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r>
              <a:rPr sz="1725" b="1">
                <a:solidFill>
                  <a:srgbClr val="2F80ED"/>
                </a:solidFill>
                <a:latin typeface="Helvetica Neue"/>
                <a:ea typeface="Helvetica Neue"/>
                <a:cs typeface="Helvetica Neue"/>
              </a:rPr>
              <a:t>•</a:t>
            </a:r>
          </a:p>
        </p:txBody>
      </p:sp>
      <p:sp>
        <p:nvSpPr>
          <p:cNvPr id="8" name="Rectangle 7">
            <a:extLst>
              <a:ext uri="{FF2B5EF4-FFF2-40B4-BE49-F238E27FC236}">
                <a16:creationId xmlns:a16="http://schemas.microsoft.com/office/drawing/2014/main" id="{8F06C287-BB4E-E0E3-FA7A-10FABB585322}"/>
              </a:ext>
            </a:extLst>
          </p:cNvPr>
          <p:cNvSpPr>
            <a:spLocks noGrp="1"/>
          </p:cNvSpPr>
          <p:nvPr/>
        </p:nvSpPr>
        <p:spPr>
          <a:xfrm>
            <a:off x="1181100" y="3082568"/>
            <a:ext cx="3867150" cy="457200"/>
          </a:xfrm>
          <a:prstGeom prst="rect">
            <a:avLst/>
          </a:prstGeom>
          <a:noFill/>
          <a:ln w="0">
            <a:noFill/>
          </a:ln>
        </p:spPr>
        <p:txBody>
          <a:bodyPr anchor="ctr"/>
          <a:lstStyle/>
          <a:p>
            <a:pPr algn="l">
              <a:defRPr sz="1725" b="0">
                <a:solidFill>
                  <a:srgbClr val="1F2933"/>
                </a:solidFill>
                <a:latin typeface="Helvetica Neue"/>
                <a:ea typeface="Helvetica Neue"/>
                <a:cs typeface="Helvetica Neue"/>
              </a:defRPr>
            </a:pPr>
            <a:r>
              <a:rPr lang="en-US" sz="1725" b="0" dirty="0">
                <a:solidFill>
                  <a:srgbClr val="1F2933"/>
                </a:solidFill>
                <a:latin typeface="Helvetica Neue"/>
                <a:ea typeface="Helvetica Neue"/>
                <a:cs typeface="Helvetica Neue"/>
              </a:rPr>
              <a:t>Period: 4 Jan 2021 – 17 Sep 2026</a:t>
            </a:r>
            <a:endParaRPr sz="1725" b="0" dirty="0">
              <a:solidFill>
                <a:srgbClr val="1F2933"/>
              </a:solidFill>
              <a:latin typeface="Helvetica Neue"/>
              <a:ea typeface="Helvetica Neue"/>
              <a:cs typeface="Helvetica Neue"/>
            </a:endParaRPr>
          </a:p>
        </p:txBody>
      </p:sp>
      <p:sp>
        <p:nvSpPr>
          <p:cNvPr id="9" name="Rectangle 8">
            <a:extLst>
              <a:ext uri="{FF2B5EF4-FFF2-40B4-BE49-F238E27FC236}">
                <a16:creationId xmlns:a16="http://schemas.microsoft.com/office/drawing/2014/main" id="{45B328B4-C60C-9FA6-09E0-4B2B9E0679B2}"/>
              </a:ext>
            </a:extLst>
          </p:cNvPr>
          <p:cNvSpPr>
            <a:spLocks noGrp="1"/>
          </p:cNvSpPr>
          <p:nvPr/>
        </p:nvSpPr>
        <p:spPr>
          <a:xfrm>
            <a:off x="857250" y="3730268"/>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r>
              <a:rPr sz="1725" b="1">
                <a:solidFill>
                  <a:srgbClr val="2F80ED"/>
                </a:solidFill>
                <a:latin typeface="Helvetica Neue"/>
                <a:ea typeface="Helvetica Neue"/>
                <a:cs typeface="Helvetica Neue"/>
              </a:rPr>
              <a:t>•</a:t>
            </a:r>
          </a:p>
        </p:txBody>
      </p:sp>
      <p:sp>
        <p:nvSpPr>
          <p:cNvPr id="10" name="Rectangle 9">
            <a:extLst>
              <a:ext uri="{FF2B5EF4-FFF2-40B4-BE49-F238E27FC236}">
                <a16:creationId xmlns:a16="http://schemas.microsoft.com/office/drawing/2014/main" id="{8261E85F-630D-353D-CC35-FB1290E816AD}"/>
              </a:ext>
            </a:extLst>
          </p:cNvPr>
          <p:cNvSpPr>
            <a:spLocks noGrp="1"/>
          </p:cNvSpPr>
          <p:nvPr/>
        </p:nvSpPr>
        <p:spPr>
          <a:xfrm>
            <a:off x="1181100" y="3730268"/>
            <a:ext cx="3867150" cy="457200"/>
          </a:xfrm>
          <a:prstGeom prst="rect">
            <a:avLst/>
          </a:prstGeom>
          <a:noFill/>
          <a:ln w="0">
            <a:noFill/>
          </a:ln>
        </p:spPr>
        <p:txBody>
          <a:bodyPr anchor="ctr"/>
          <a:lstStyle/>
          <a:p>
            <a:pPr algn="l">
              <a:defRPr sz="1725" b="0">
                <a:solidFill>
                  <a:srgbClr val="1F2933"/>
                </a:solidFill>
                <a:latin typeface="Helvetica Neue"/>
                <a:ea typeface="Helvetica Neue"/>
                <a:cs typeface="Helvetica Neue"/>
              </a:defRPr>
            </a:pPr>
            <a:r>
              <a:rPr lang="en-US" sz="1725" b="0" dirty="0">
                <a:solidFill>
                  <a:srgbClr val="1F2933"/>
                </a:solidFill>
                <a:latin typeface="Helvetica Neue"/>
                <a:ea typeface="Helvetica Neue"/>
                <a:cs typeface="Helvetica Neue"/>
              </a:rPr>
              <a:t>Data Processing: </a:t>
            </a:r>
            <a:r>
              <a:rPr sz="1725" b="0" dirty="0">
                <a:solidFill>
                  <a:srgbClr val="1F2933"/>
                </a:solidFill>
                <a:latin typeface="Helvetica Neue"/>
                <a:ea typeface="Helvetica Neue"/>
                <a:cs typeface="Helvetica Neue"/>
              </a:rPr>
              <a:t>No missing </a:t>
            </a:r>
            <a:r>
              <a:rPr lang="en-US" sz="1725" b="0" dirty="0">
                <a:solidFill>
                  <a:srgbClr val="1F2933"/>
                </a:solidFill>
                <a:latin typeface="Helvetica Neue"/>
                <a:ea typeface="Helvetica Neue"/>
                <a:cs typeface="Helvetica Neue"/>
              </a:rPr>
              <a:t>1,433 Raw </a:t>
            </a:r>
            <a:r>
              <a:rPr sz="1725" b="0" dirty="0">
                <a:solidFill>
                  <a:srgbClr val="1F2933"/>
                </a:solidFill>
                <a:latin typeface="Helvetica Neue"/>
                <a:ea typeface="Helvetica Neue"/>
                <a:cs typeface="Helvetica Neue"/>
              </a:rPr>
              <a:t>OHLCV </a:t>
            </a:r>
            <a:r>
              <a:rPr lang="en-US" sz="1725" b="0" dirty="0">
                <a:solidFill>
                  <a:srgbClr val="1F2933"/>
                </a:solidFill>
                <a:latin typeface="Helvetica Neue"/>
                <a:ea typeface="Helvetica Neue"/>
                <a:cs typeface="Helvetica Neue"/>
              </a:rPr>
              <a:t>rows</a:t>
            </a:r>
            <a:endParaRPr sz="1725" b="0" dirty="0">
              <a:solidFill>
                <a:srgbClr val="1F2933"/>
              </a:solidFill>
              <a:latin typeface="Helvetica Neue"/>
              <a:ea typeface="Helvetica Neue"/>
              <a:cs typeface="Helvetica Neue"/>
            </a:endParaRPr>
          </a:p>
        </p:txBody>
      </p:sp>
      <p:sp>
        <p:nvSpPr>
          <p:cNvPr id="11" name="Rectangle 10">
            <a:extLst>
              <a:ext uri="{FF2B5EF4-FFF2-40B4-BE49-F238E27FC236}">
                <a16:creationId xmlns:a16="http://schemas.microsoft.com/office/drawing/2014/main" id="{608957D7-1A89-81EF-B153-7D0A15A4287C}"/>
              </a:ext>
            </a:extLst>
          </p:cNvPr>
          <p:cNvSpPr>
            <a:spLocks noGrp="1"/>
          </p:cNvSpPr>
          <p:nvPr/>
        </p:nvSpPr>
        <p:spPr>
          <a:xfrm>
            <a:off x="857250" y="4377968"/>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r>
              <a:rPr sz="1725" b="1" dirty="0">
                <a:solidFill>
                  <a:srgbClr val="2F80ED"/>
                </a:solidFill>
                <a:latin typeface="Helvetica Neue"/>
                <a:ea typeface="Helvetica Neue"/>
                <a:cs typeface="Helvetica Neue"/>
              </a:rPr>
              <a:t>•</a:t>
            </a:r>
          </a:p>
        </p:txBody>
      </p:sp>
      <p:sp>
        <p:nvSpPr>
          <p:cNvPr id="12" name="Rectangle 11">
            <a:extLst>
              <a:ext uri="{FF2B5EF4-FFF2-40B4-BE49-F238E27FC236}">
                <a16:creationId xmlns:a16="http://schemas.microsoft.com/office/drawing/2014/main" id="{D0480448-CA87-1162-884C-0257E7A97AD9}"/>
              </a:ext>
            </a:extLst>
          </p:cNvPr>
          <p:cNvSpPr>
            <a:spLocks noGrp="1"/>
          </p:cNvSpPr>
          <p:nvPr/>
        </p:nvSpPr>
        <p:spPr>
          <a:xfrm>
            <a:off x="1181100" y="4377968"/>
            <a:ext cx="4474982" cy="1207214"/>
          </a:xfrm>
          <a:prstGeom prst="rect">
            <a:avLst/>
          </a:prstGeom>
          <a:noFill/>
          <a:ln w="0">
            <a:noFill/>
          </a:ln>
        </p:spPr>
        <p:txBody>
          <a:bodyPr anchor="ctr"/>
          <a:lstStyle/>
          <a:p>
            <a:pPr>
              <a:defRPr sz="1725" b="0">
                <a:solidFill>
                  <a:srgbClr val="1F2933"/>
                </a:solidFill>
                <a:latin typeface="Helvetica Neue"/>
                <a:ea typeface="Helvetica Neue"/>
                <a:cs typeface="Helvetica Neue"/>
              </a:defRPr>
            </a:pPr>
            <a:r>
              <a:rPr lang="en-TH" sz="1725" dirty="0">
                <a:solidFill>
                  <a:srgbClr val="1F2933"/>
                </a:solidFill>
                <a:latin typeface="Helvetica Neue"/>
              </a:rPr>
              <a:t>Data Quality Validation</a:t>
            </a:r>
          </a:p>
          <a:p>
            <a:pPr>
              <a:defRPr sz="1725" b="0">
                <a:solidFill>
                  <a:srgbClr val="1F2933"/>
                </a:solidFill>
                <a:latin typeface="Helvetica Neue"/>
                <a:ea typeface="Helvetica Neue"/>
                <a:cs typeface="Helvetica Neue"/>
              </a:defRPr>
            </a:pPr>
            <a:r>
              <a:rPr lang="en-TH" sz="1725" dirty="0">
                <a:solidFill>
                  <a:srgbClr val="1F2933"/>
                </a:solidFill>
                <a:latin typeface="Helvetica Neue"/>
              </a:rPr>
              <a:t>Feature Engineering</a:t>
            </a:r>
          </a:p>
          <a:p>
            <a:pPr>
              <a:defRPr sz="1725" b="0">
                <a:solidFill>
                  <a:srgbClr val="1F2933"/>
                </a:solidFill>
                <a:latin typeface="Helvetica Neue"/>
                <a:ea typeface="Helvetica Neue"/>
                <a:cs typeface="Helvetica Neue"/>
              </a:defRPr>
            </a:pPr>
            <a:r>
              <a:rPr lang="en-TH" sz="1725" dirty="0">
                <a:solidFill>
                  <a:srgbClr val="1F2933"/>
                </a:solidFill>
                <a:latin typeface="Helvetica Neue"/>
              </a:rPr>
              <a:t>Remove 20 warm-up rows</a:t>
            </a:r>
          </a:p>
          <a:p>
            <a:pPr>
              <a:defRPr sz="1725" b="0">
                <a:solidFill>
                  <a:srgbClr val="1F2933"/>
                </a:solidFill>
                <a:latin typeface="Helvetica Neue"/>
                <a:ea typeface="Helvetica Neue"/>
                <a:cs typeface="Helvetica Neue"/>
              </a:defRPr>
            </a:pPr>
            <a:r>
              <a:rPr lang="en-TH" sz="1725" dirty="0">
                <a:solidFill>
                  <a:srgbClr val="1F2933"/>
                </a:solidFill>
                <a:latin typeface="Helvetica Neue"/>
              </a:rPr>
              <a:t>Remove 1 final row without next-day target</a:t>
            </a:r>
            <a:endParaRPr sz="1725" b="0" dirty="0">
              <a:solidFill>
                <a:srgbClr val="1F2933"/>
              </a:solidFill>
              <a:latin typeface="Helvetica Neue"/>
              <a:ea typeface="Helvetica Neue"/>
              <a:cs typeface="Helvetica Neue"/>
            </a:endParaRPr>
          </a:p>
        </p:txBody>
      </p:sp>
      <p:sp>
        <p:nvSpPr>
          <p:cNvPr id="13" name="Rectangle 12">
            <a:extLst>
              <a:ext uri="{FF2B5EF4-FFF2-40B4-BE49-F238E27FC236}">
                <a16:creationId xmlns:a16="http://schemas.microsoft.com/office/drawing/2014/main" id="{EE1F65D1-7E6D-F4E1-6217-AB4B41E60E57}"/>
              </a:ext>
            </a:extLst>
          </p:cNvPr>
          <p:cNvSpPr>
            <a:spLocks noGrp="1"/>
          </p:cNvSpPr>
          <p:nvPr/>
        </p:nvSpPr>
        <p:spPr>
          <a:xfrm>
            <a:off x="6381750" y="1381125"/>
            <a:ext cx="4286250" cy="428625"/>
          </a:xfrm>
          <a:prstGeom prst="rect">
            <a:avLst/>
          </a:prstGeom>
          <a:noFill/>
          <a:ln w="0">
            <a:noFill/>
          </a:ln>
        </p:spPr>
        <p:txBody>
          <a:bodyPr anchor="ctr"/>
          <a:lstStyle/>
          <a:p>
            <a:pPr algn="l">
              <a:defRPr sz="2250" b="1">
                <a:solidFill>
                  <a:srgbClr val="16324F"/>
                </a:solidFill>
                <a:latin typeface="Helvetica Neue"/>
                <a:ea typeface="Helvetica Neue"/>
                <a:cs typeface="Helvetica Neue"/>
              </a:defRPr>
            </a:pPr>
            <a:r>
              <a:rPr sz="2250" b="1">
                <a:solidFill>
                  <a:srgbClr val="16324F"/>
                </a:solidFill>
                <a:latin typeface="Helvetica Neue"/>
                <a:ea typeface="Helvetica Neue"/>
                <a:cs typeface="Helvetica Neue"/>
              </a:rPr>
              <a:t>Chronological split</a:t>
            </a:r>
          </a:p>
        </p:txBody>
      </p:sp>
      <p:sp>
        <p:nvSpPr>
          <p:cNvPr id="14" name="Rectangle 13">
            <a:extLst>
              <a:ext uri="{FF2B5EF4-FFF2-40B4-BE49-F238E27FC236}">
                <a16:creationId xmlns:a16="http://schemas.microsoft.com/office/drawing/2014/main" id="{4715D8A3-9B2D-7E43-1F0A-7665116CF887}"/>
              </a:ext>
            </a:extLst>
          </p:cNvPr>
          <p:cNvSpPr>
            <a:spLocks noGrp="1"/>
          </p:cNvSpPr>
          <p:nvPr/>
        </p:nvSpPr>
        <p:spPr>
          <a:xfrm>
            <a:off x="6572249" y="2171700"/>
            <a:ext cx="1666777" cy="523875"/>
          </a:xfrm>
          <a:prstGeom prst="rect">
            <a:avLst/>
          </a:prstGeom>
          <a:noFill/>
          <a:ln w="0">
            <a:noFill/>
          </a:ln>
        </p:spPr>
        <p:txBody>
          <a:bodyPr anchor="ctr"/>
          <a:lstStyle/>
          <a:p>
            <a:pPr>
              <a:defRPr sz="1500" b="1">
                <a:solidFill>
                  <a:srgbClr val="2F80ED"/>
                </a:solidFill>
                <a:latin typeface="Helvetica Neue"/>
                <a:ea typeface="Helvetica Neue"/>
                <a:cs typeface="Helvetica Neue"/>
              </a:defRPr>
            </a:pPr>
            <a:r>
              <a:rPr lang="en-TH" sz="1500" b="1" dirty="0">
                <a:solidFill>
                  <a:srgbClr val="2F80ED"/>
                </a:solidFill>
                <a:latin typeface="Helvetica Neue"/>
              </a:rPr>
              <a:t>Data Structure</a:t>
            </a:r>
          </a:p>
          <a:p>
            <a:pPr algn="l">
              <a:defRPr sz="1500" b="1">
                <a:solidFill>
                  <a:srgbClr val="2F80ED"/>
                </a:solidFill>
                <a:latin typeface="Helvetica Neue"/>
                <a:ea typeface="Helvetica Neue"/>
                <a:cs typeface="Helvetica Neue"/>
              </a:defRPr>
            </a:pPr>
            <a:endParaRPr sz="1500" b="1" dirty="0">
              <a:solidFill>
                <a:srgbClr val="2F80ED"/>
              </a:solidFill>
              <a:latin typeface="Helvetica Neue"/>
              <a:ea typeface="Helvetica Neue"/>
              <a:cs typeface="Helvetica Neue"/>
            </a:endParaRPr>
          </a:p>
        </p:txBody>
      </p:sp>
      <p:sp>
        <p:nvSpPr>
          <p:cNvPr id="16" name="Rectangle 15">
            <a:extLst>
              <a:ext uri="{FF2B5EF4-FFF2-40B4-BE49-F238E27FC236}">
                <a16:creationId xmlns:a16="http://schemas.microsoft.com/office/drawing/2014/main" id="{940145BC-9DB5-22D3-B902-B4A65A06F842}"/>
              </a:ext>
            </a:extLst>
          </p:cNvPr>
          <p:cNvSpPr>
            <a:spLocks noGrp="1"/>
          </p:cNvSpPr>
          <p:nvPr/>
        </p:nvSpPr>
        <p:spPr>
          <a:xfrm>
            <a:off x="6381750" y="2574898"/>
            <a:ext cx="2185251" cy="873254"/>
          </a:xfrm>
          <a:prstGeom prst="rect">
            <a:avLst/>
          </a:prstGeom>
          <a:noFill/>
          <a:ln w="0">
            <a:noFill/>
          </a:ln>
        </p:spPr>
        <p:txBody>
          <a:bodyPr anchor="ctr"/>
          <a:lstStyle/>
          <a:p>
            <a:r>
              <a:rPr lang="en-TH" sz="1400" dirty="0"/>
              <a:t>The raw data is structured in OHLCV format (Open, High, Low, Close, Volume).</a:t>
            </a:r>
          </a:p>
        </p:txBody>
      </p:sp>
      <p:sp>
        <p:nvSpPr>
          <p:cNvPr id="17" name="Rectangle 16">
            <a:extLst>
              <a:ext uri="{FF2B5EF4-FFF2-40B4-BE49-F238E27FC236}">
                <a16:creationId xmlns:a16="http://schemas.microsoft.com/office/drawing/2014/main" id="{1114469F-4F4C-EAF3-CFEB-BABC01BF0A55}"/>
              </a:ext>
            </a:extLst>
          </p:cNvPr>
          <p:cNvSpPr>
            <a:spLocks noGrp="1"/>
          </p:cNvSpPr>
          <p:nvPr/>
        </p:nvSpPr>
        <p:spPr>
          <a:xfrm>
            <a:off x="9239249" y="2238375"/>
            <a:ext cx="1666777" cy="504826"/>
          </a:xfrm>
          <a:prstGeom prst="rect">
            <a:avLst/>
          </a:prstGeom>
          <a:noFill/>
          <a:ln w="0">
            <a:noFill/>
          </a:ln>
        </p:spPr>
        <p:txBody>
          <a:bodyPr anchor="ctr"/>
          <a:lstStyle/>
          <a:p>
            <a:pPr>
              <a:defRPr sz="1500" b="1">
                <a:solidFill>
                  <a:srgbClr val="F2994A"/>
                </a:solidFill>
                <a:latin typeface="Helvetica Neue"/>
                <a:ea typeface="Helvetica Neue"/>
                <a:cs typeface="Helvetica Neue"/>
              </a:defRPr>
            </a:pPr>
            <a:r>
              <a:rPr lang="en-TH" sz="1500" b="1" dirty="0">
                <a:solidFill>
                  <a:srgbClr val="F2994A"/>
                </a:solidFill>
                <a:latin typeface="Helvetica Neue"/>
              </a:rPr>
              <a:t>Target Variable</a:t>
            </a:r>
          </a:p>
          <a:p>
            <a:pPr algn="l">
              <a:defRPr sz="1500" b="1">
                <a:solidFill>
                  <a:srgbClr val="F2994A"/>
                </a:solidFill>
                <a:latin typeface="Helvetica Neue"/>
                <a:ea typeface="Helvetica Neue"/>
                <a:cs typeface="Helvetica Neue"/>
              </a:defRPr>
            </a:pPr>
            <a:endParaRPr sz="1500" b="1" dirty="0">
              <a:solidFill>
                <a:srgbClr val="F2994A"/>
              </a:solidFill>
              <a:latin typeface="Helvetica Neue"/>
              <a:ea typeface="Helvetica Neue"/>
              <a:cs typeface="Helvetica Neue"/>
            </a:endParaRPr>
          </a:p>
        </p:txBody>
      </p:sp>
      <p:sp>
        <p:nvSpPr>
          <p:cNvPr id="20" name="Rectangle 19">
            <a:extLst>
              <a:ext uri="{FF2B5EF4-FFF2-40B4-BE49-F238E27FC236}">
                <a16:creationId xmlns:a16="http://schemas.microsoft.com/office/drawing/2014/main" id="{CD4DE1A9-B0F5-EB49-87C9-5DACAB904FE3}"/>
              </a:ext>
            </a:extLst>
          </p:cNvPr>
          <p:cNvSpPr>
            <a:spLocks noGrp="1"/>
          </p:cNvSpPr>
          <p:nvPr/>
        </p:nvSpPr>
        <p:spPr>
          <a:xfrm>
            <a:off x="6202837" y="4981575"/>
            <a:ext cx="5379563" cy="1143000"/>
          </a:xfrm>
          <a:prstGeom prst="rect">
            <a:avLst/>
          </a:prstGeom>
          <a:noFill/>
          <a:ln w="0">
            <a:noFill/>
          </a:ln>
        </p:spPr>
        <p:txBody>
          <a:bodyPr anchor="ctr"/>
          <a:lstStyle/>
          <a:p>
            <a:pPr>
              <a:defRPr sz="1725" b="1">
                <a:solidFill>
                  <a:srgbClr val="219EBC"/>
                </a:solidFill>
                <a:latin typeface="Helvetica Neue"/>
                <a:ea typeface="Helvetica Neue"/>
                <a:cs typeface="Helvetica Neue"/>
              </a:defRPr>
            </a:pPr>
            <a:r>
              <a:rPr lang="en-TH" sz="1725" b="1" dirty="0">
                <a:solidFill>
                  <a:srgbClr val="219EBC"/>
                </a:solidFill>
                <a:latin typeface="Helvetica Neue"/>
              </a:rPr>
              <a:t>The raw data passed the quality checks with no missing values, invalid OHLCV relationships, negative volumes, or duplicate dates.</a:t>
            </a:r>
          </a:p>
          <a:p>
            <a:pPr algn="l">
              <a:defRPr sz="1725" b="1">
                <a:solidFill>
                  <a:srgbClr val="219EBC"/>
                </a:solidFill>
                <a:latin typeface="Helvetica Neue"/>
                <a:ea typeface="Helvetica Neue"/>
                <a:cs typeface="Helvetica Neue"/>
              </a:defRPr>
            </a:pPr>
            <a:endParaRPr sz="1725" b="1" dirty="0">
              <a:solidFill>
                <a:srgbClr val="219EBC"/>
              </a:solidFill>
              <a:latin typeface="Helvetica Neue"/>
              <a:ea typeface="Helvetica Neue"/>
              <a:cs typeface="Helvetica Neue"/>
            </a:endParaRPr>
          </a:p>
        </p:txBody>
      </p:sp>
      <p:sp>
        <p:nvSpPr>
          <p:cNvPr id="24" name="Rectangle 23">
            <a:extLst>
              <a:ext uri="{FF2B5EF4-FFF2-40B4-BE49-F238E27FC236}">
                <a16:creationId xmlns:a16="http://schemas.microsoft.com/office/drawing/2014/main" id="{D0B43272-09E5-616F-62BB-D5AC4CF3AFD0}"/>
              </a:ext>
            </a:extLst>
          </p:cNvPr>
          <p:cNvSpPr>
            <a:spLocks noGrp="1"/>
          </p:cNvSpPr>
          <p:nvPr/>
        </p:nvSpPr>
        <p:spPr>
          <a:xfrm>
            <a:off x="857250" y="5585182"/>
            <a:ext cx="228600" cy="381000"/>
          </a:xfrm>
          <a:prstGeom prst="rect">
            <a:avLst/>
          </a:prstGeom>
          <a:noFill/>
          <a:ln w="0">
            <a:noFill/>
          </a:ln>
        </p:spPr>
        <p:txBody>
          <a:bodyPr anchor="ctr"/>
          <a:lstStyle/>
          <a:p>
            <a:pPr algn="l">
              <a:defRPr sz="1725" b="1">
                <a:solidFill>
                  <a:srgbClr val="2F80ED"/>
                </a:solidFill>
                <a:latin typeface="Helvetica Neue"/>
                <a:ea typeface="Helvetica Neue"/>
                <a:cs typeface="Helvetica Neue"/>
              </a:defRPr>
            </a:pPr>
            <a:r>
              <a:rPr sz="1725" b="1" dirty="0">
                <a:solidFill>
                  <a:srgbClr val="2F80ED"/>
                </a:solidFill>
                <a:latin typeface="Helvetica Neue"/>
                <a:ea typeface="Helvetica Neue"/>
                <a:cs typeface="Helvetica Neue"/>
              </a:rPr>
              <a:t>•</a:t>
            </a:r>
          </a:p>
        </p:txBody>
      </p:sp>
      <p:sp>
        <p:nvSpPr>
          <p:cNvPr id="25" name="Rectangle 24">
            <a:extLst>
              <a:ext uri="{FF2B5EF4-FFF2-40B4-BE49-F238E27FC236}">
                <a16:creationId xmlns:a16="http://schemas.microsoft.com/office/drawing/2014/main" id="{B72111B3-3BE7-078E-373C-98127662BBC6}"/>
              </a:ext>
            </a:extLst>
          </p:cNvPr>
          <p:cNvSpPr>
            <a:spLocks noGrp="1"/>
          </p:cNvSpPr>
          <p:nvPr/>
        </p:nvSpPr>
        <p:spPr>
          <a:xfrm>
            <a:off x="1181100" y="5585181"/>
            <a:ext cx="4258166" cy="741879"/>
          </a:xfrm>
          <a:prstGeom prst="rect">
            <a:avLst/>
          </a:prstGeom>
          <a:noFill/>
          <a:ln w="0">
            <a:noFill/>
          </a:ln>
        </p:spPr>
        <p:txBody>
          <a:bodyPr anchor="ctr"/>
          <a:lstStyle/>
          <a:p>
            <a:pPr algn="l">
              <a:defRPr sz="1725" b="0">
                <a:solidFill>
                  <a:srgbClr val="1F2933"/>
                </a:solidFill>
                <a:latin typeface="Helvetica Neue"/>
                <a:ea typeface="Helvetica Neue"/>
                <a:cs typeface="Helvetica Neue"/>
              </a:defRPr>
            </a:pPr>
            <a:r>
              <a:rPr sz="1725" b="0" dirty="0">
                <a:solidFill>
                  <a:srgbClr val="1F2933"/>
                </a:solidFill>
                <a:latin typeface="Helvetica Neue"/>
                <a:ea typeface="Helvetica Neue"/>
                <a:cs typeface="Helvetica Neue"/>
              </a:rPr>
              <a:t>1,41</a:t>
            </a:r>
            <a:r>
              <a:rPr lang="en-US" sz="1725" b="0" dirty="0">
                <a:solidFill>
                  <a:srgbClr val="1F2933"/>
                </a:solidFill>
                <a:latin typeface="Helvetica Neue"/>
                <a:ea typeface="Helvetica Neue"/>
                <a:cs typeface="Helvetica Neue"/>
              </a:rPr>
              <a:t>2</a:t>
            </a:r>
            <a:r>
              <a:rPr sz="1725" b="0" dirty="0">
                <a:solidFill>
                  <a:srgbClr val="1F2933"/>
                </a:solidFill>
                <a:latin typeface="Helvetica Neue"/>
                <a:ea typeface="Helvetica Neue"/>
                <a:cs typeface="Helvetica Neue"/>
              </a:rPr>
              <a:t> model-ready rows</a:t>
            </a:r>
            <a:endParaRPr lang="en-US" sz="1725" b="0" dirty="0">
              <a:solidFill>
                <a:srgbClr val="1F2933"/>
              </a:solidFill>
              <a:latin typeface="Helvetica Neue"/>
              <a:ea typeface="Helvetica Neue"/>
              <a:cs typeface="Helvetica Neue"/>
            </a:endParaRPr>
          </a:p>
          <a:p>
            <a:pPr>
              <a:defRPr sz="1725" b="0">
                <a:solidFill>
                  <a:srgbClr val="1F2933"/>
                </a:solidFill>
                <a:latin typeface="Helvetica Neue"/>
                <a:ea typeface="Helvetica Neue"/>
                <a:cs typeface="Helvetica Neue"/>
              </a:defRPr>
            </a:pPr>
            <a:r>
              <a:rPr lang="en-TH" sz="1725" dirty="0">
                <a:solidFill>
                  <a:srgbClr val="1F2933"/>
                </a:solidFill>
                <a:latin typeface="Helvetica Neue"/>
              </a:rPr>
              <a:t>2 Feb 2021 – 16 Sep 2026</a:t>
            </a:r>
          </a:p>
        </p:txBody>
      </p:sp>
      <p:sp>
        <p:nvSpPr>
          <p:cNvPr id="27" name="Rectangle 26">
            <a:extLst>
              <a:ext uri="{FF2B5EF4-FFF2-40B4-BE49-F238E27FC236}">
                <a16:creationId xmlns:a16="http://schemas.microsoft.com/office/drawing/2014/main" id="{AF992A49-0C0F-85E4-6DC0-191C34CD62F5}"/>
              </a:ext>
            </a:extLst>
          </p:cNvPr>
          <p:cNvSpPr>
            <a:spLocks noGrp="1"/>
          </p:cNvSpPr>
          <p:nvPr/>
        </p:nvSpPr>
        <p:spPr>
          <a:xfrm>
            <a:off x="9149499" y="2661796"/>
            <a:ext cx="2341775" cy="1947911"/>
          </a:xfrm>
          <a:prstGeom prst="rect">
            <a:avLst/>
          </a:prstGeom>
          <a:noFill/>
          <a:ln w="0">
            <a:noFill/>
          </a:ln>
        </p:spPr>
        <p:txBody>
          <a:bodyPr anchor="ctr"/>
          <a:lstStyle/>
          <a:p>
            <a:r>
              <a:rPr lang="en-TH" sz="1400" dirty="0"/>
              <a:t>A binary classification target (target_up) was created, representing whether the closing price of the next trading day is strictly greater than the current day's closing price </a:t>
            </a:r>
          </a:p>
          <a:p>
            <a:endParaRPr lang="en-TH" sz="1400" dirty="0"/>
          </a:p>
          <a:p>
            <a:endParaRPr lang="en-TH" sz="1400" dirty="0"/>
          </a:p>
        </p:txBody>
      </p:sp>
    </p:spTree>
    <p:extLst>
      <p:ext uri="{BB962C8B-B14F-4D97-AF65-F5344CB8AC3E}">
        <p14:creationId xmlns:p14="http://schemas.microsoft.com/office/powerpoint/2010/main" val="3928369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A01C45-17E3-4D79-88D4-1107DD7F2DCC}"/>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Data Cleaning Process</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D276CF04-4156-40A1-8F1F-F046C8E73F59}"/>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4</a:t>
            </a:r>
          </a:p>
        </p:txBody>
      </p:sp>
      <p:sp>
        <p:nvSpPr>
          <p:cNvPr id="3" name="Rectangle 2">
            <a:extLst>
              <a:ext uri="{FF2B5EF4-FFF2-40B4-BE49-F238E27FC236}">
                <a16:creationId xmlns:a16="http://schemas.microsoft.com/office/drawing/2014/main" id="{C6AEF5DB-96C5-4D5F-925A-EAC74C7F866F}"/>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5" name="Rectangle 4">
            <a:extLst>
              <a:ext uri="{FF2B5EF4-FFF2-40B4-BE49-F238E27FC236}">
                <a16:creationId xmlns:a16="http://schemas.microsoft.com/office/drawing/2014/main" id="{40E90B48-3DE1-435F-B327-76E5DDE90790}"/>
              </a:ext>
            </a:extLst>
          </p:cNvPr>
          <p:cNvSpPr>
            <a:spLocks noGrp="1"/>
          </p:cNvSpPr>
          <p:nvPr/>
        </p:nvSpPr>
        <p:spPr>
          <a:xfrm>
            <a:off x="725863" y="1444658"/>
            <a:ext cx="10746557" cy="4346542"/>
          </a:xfrm>
          <a:prstGeom prst="rect">
            <a:avLst/>
          </a:prstGeom>
          <a:noFill/>
          <a:ln w="0">
            <a:noFill/>
          </a:ln>
        </p:spPr>
        <p:txBody>
          <a:bodyPr anchor="ctr"/>
          <a:lstStyle/>
          <a:p>
            <a:pPr>
              <a:defRPr sz="1650" b="1">
                <a:solidFill>
                  <a:srgbClr val="16324F"/>
                </a:solidFill>
                <a:latin typeface="Helvetica Neue"/>
                <a:ea typeface="Helvetica Neue"/>
                <a:cs typeface="Helvetica Neue"/>
              </a:defRPr>
            </a:pPr>
            <a:r>
              <a:rPr lang="en-TH" sz="1650" b="1" dirty="0">
                <a:solidFill>
                  <a:srgbClr val="16324F"/>
                </a:solidFill>
                <a:latin typeface="Helvetica Neue"/>
              </a:rPr>
              <a:t>A rigorous programmatic data cleaning process was executed to ensure data integrity before modeling</a:t>
            </a:r>
            <a:endParaRPr lang="th-TH" sz="1650" b="1" dirty="0">
              <a:solidFill>
                <a:srgbClr val="16324F"/>
              </a:solidFill>
              <a:latin typeface="Helvetica Neue"/>
            </a:endParaRPr>
          </a:p>
          <a:p>
            <a:pPr lvl="0"/>
            <a:endParaRPr lang="th-TH" dirty="0"/>
          </a:p>
          <a:p>
            <a:pPr lvl="0"/>
            <a:r>
              <a:rPr lang="en-TH" dirty="0"/>
              <a:t>Completeness &amp; Validity Check</a:t>
            </a:r>
            <a:endParaRPr lang="th-TH" dirty="0"/>
          </a:p>
          <a:p>
            <a:pPr lvl="0"/>
            <a:r>
              <a:rPr lang="en-TH" dirty="0"/>
              <a:t>The pipeline scanned for and successfully verified that there were zero missing values, non-finite values, invalid price ranges (e.g., Low &gt; High), or negative volumes across the 1,433 raw rows.</a:t>
            </a:r>
            <a:br>
              <a:rPr lang="en-TH" dirty="0"/>
            </a:br>
            <a:r>
              <a:rPr lang="en-TH" dirty="0"/>
              <a:t>Chronological Alignment: Exact duplicates and conflicting dates were removed.</a:t>
            </a:r>
            <a:br>
              <a:rPr lang="en-TH" dirty="0"/>
            </a:br>
            <a:endParaRPr lang="en-TH" dirty="0"/>
          </a:p>
          <a:p>
            <a:pPr lvl="0"/>
            <a:r>
              <a:rPr lang="en-TH" dirty="0"/>
              <a:t>Warmup &amp; Terminal Truncation</a:t>
            </a:r>
            <a:endParaRPr lang="th-TH" dirty="0"/>
          </a:p>
          <a:p>
            <a:pPr lvl="0"/>
            <a:r>
              <a:rPr lang="en-TH" dirty="0"/>
              <a:t>20 initial rows were removed to accommodate the "warmup" period required for rolling technical indicators (e.g., 20-day moving averages). 1 terminal row was removed because its next-day target could not be observed.</a:t>
            </a:r>
            <a:br>
              <a:rPr lang="en-TH" dirty="0"/>
            </a:br>
            <a:endParaRPr lang="en-TH" dirty="0"/>
          </a:p>
          <a:p>
            <a:pPr lvl="0"/>
            <a:r>
              <a:rPr lang="en-TH" dirty="0"/>
              <a:t>Final Processed Data</a:t>
            </a:r>
            <a:endParaRPr lang="th-TH" dirty="0"/>
          </a:p>
          <a:p>
            <a:pPr lvl="0"/>
            <a:r>
              <a:rPr lang="en-TH" dirty="0"/>
              <a:t>The resulting clean dataset contains 1,412 feature-engineered rows spanning February 2, 2021, to September 16, 2026, perfectly aligned for time-series modeling.</a:t>
            </a:r>
          </a:p>
          <a:p>
            <a:pPr>
              <a:defRPr sz="1650" b="1">
                <a:solidFill>
                  <a:srgbClr val="16324F"/>
                </a:solidFill>
                <a:latin typeface="Helvetica Neue"/>
                <a:ea typeface="Helvetica Neue"/>
                <a:cs typeface="Helvetica Neue"/>
              </a:defRPr>
            </a:pPr>
            <a:endParaRPr sz="1650" b="1" dirty="0">
              <a:solidFill>
                <a:srgbClr val="16324F"/>
              </a:solidFill>
              <a:latin typeface="Helvetica Neue"/>
              <a:ea typeface="Helvetica Neue"/>
              <a:cs typeface="Helvetica Neue"/>
            </a:endParaRPr>
          </a:p>
        </p:txBody>
      </p:sp>
    </p:spTree>
    <p:extLst>
      <p:ext uri="{BB962C8B-B14F-4D97-AF65-F5344CB8AC3E}">
        <p14:creationId xmlns:p14="http://schemas.microsoft.com/office/powerpoint/2010/main" val="38523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F586-7461-3C3B-0FE2-E1103EDCA32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5104548-4B6C-B4EF-6A12-A8029E0F7F48}"/>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a:t>
            </a:r>
            <a:r>
              <a:rPr lang="en-US" sz="2550" b="1" dirty="0">
                <a:solidFill>
                  <a:srgbClr val="16324F"/>
                </a:solidFill>
                <a:latin typeface="Helvetica Neue"/>
              </a:rPr>
              <a:t>: </a:t>
            </a:r>
            <a:r>
              <a:rPr lang="en-TH" sz="2550" b="1" dirty="0">
                <a:solidFill>
                  <a:srgbClr val="16324F"/>
                </a:solidFill>
                <a:latin typeface="Helvetica Neue"/>
              </a:rPr>
              <a:t>Line chart (กราฟเส้น - แนวโน้มราคา)</a:t>
            </a:r>
          </a:p>
        </p:txBody>
      </p:sp>
      <p:sp>
        <p:nvSpPr>
          <p:cNvPr id="2" name="Rectangle 1">
            <a:extLst>
              <a:ext uri="{FF2B5EF4-FFF2-40B4-BE49-F238E27FC236}">
                <a16:creationId xmlns:a16="http://schemas.microsoft.com/office/drawing/2014/main" id="{3D232108-AD88-8D26-8C87-31DB3F3BD909}"/>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CF414101-0180-D719-5EF4-E4B55E7AB17D}"/>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EBD406B8-C9CE-2928-8A12-2369024FF251}"/>
              </a:ext>
            </a:extLst>
          </p:cNvPr>
          <p:cNvSpPr>
            <a:spLocks noGrp="1"/>
          </p:cNvSpPr>
          <p:nvPr/>
        </p:nvSpPr>
        <p:spPr>
          <a:xfrm>
            <a:off x="762000" y="1428750"/>
            <a:ext cx="3143250"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TH" dirty="0"/>
              <a:t>Price &amp; Trend</a:t>
            </a:r>
            <a:endParaRPr sz="2025" b="1" dirty="0">
              <a:solidFill>
                <a:srgbClr val="16324F"/>
              </a:solidFill>
              <a:latin typeface="Helvetica Neue"/>
              <a:ea typeface="Helvetica Neue"/>
              <a:cs typeface="Helvetica Neue"/>
            </a:endParaRPr>
          </a:p>
        </p:txBody>
      </p:sp>
      <p:sp>
        <p:nvSpPr>
          <p:cNvPr id="5" name="Rectangle 4">
            <a:extLst>
              <a:ext uri="{FF2B5EF4-FFF2-40B4-BE49-F238E27FC236}">
                <a16:creationId xmlns:a16="http://schemas.microsoft.com/office/drawing/2014/main" id="{19D57D67-7671-4BD8-947B-A820CEA94AA1}"/>
              </a:ext>
            </a:extLst>
          </p:cNvPr>
          <p:cNvSpPr>
            <a:spLocks noGrp="1"/>
          </p:cNvSpPr>
          <p:nvPr/>
        </p:nvSpPr>
        <p:spPr>
          <a:xfrm>
            <a:off x="762000" y="2000250"/>
            <a:ext cx="10820400" cy="789495"/>
          </a:xfrm>
          <a:prstGeom prst="rect">
            <a:avLst/>
          </a:prstGeom>
          <a:noFill/>
          <a:ln w="0">
            <a:noFill/>
          </a:ln>
        </p:spPr>
        <p:txBody>
          <a:bodyPr anchor="ctr"/>
          <a:lstStyle/>
          <a:p>
            <a:r>
              <a:rPr lang="en-TH" dirty="0"/>
              <a:t>The asset exhibits a strong long-term upward trajectory with periodic macroeconomic drawdowns, easily visualized against a 50-day moving average.</a:t>
            </a:r>
          </a:p>
        </p:txBody>
      </p:sp>
      <p:pic>
        <p:nvPicPr>
          <p:cNvPr id="14" name="Picture 13">
            <a:extLst>
              <a:ext uri="{FF2B5EF4-FFF2-40B4-BE49-F238E27FC236}">
                <a16:creationId xmlns:a16="http://schemas.microsoft.com/office/drawing/2014/main" id="{E4CDFF45-D654-C966-993E-80A69EA09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2789745"/>
            <a:ext cx="7772400" cy="3637721"/>
          </a:xfrm>
          <a:prstGeom prst="rect">
            <a:avLst/>
          </a:prstGeom>
        </p:spPr>
      </p:pic>
    </p:spTree>
    <p:extLst>
      <p:ext uri="{BB962C8B-B14F-4D97-AF65-F5344CB8AC3E}">
        <p14:creationId xmlns:p14="http://schemas.microsoft.com/office/powerpoint/2010/main" val="1569738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8F94070-A1CC-48EE-8D60-6CF07242FB9F}"/>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 Histogram (ฮิสโตแกรม - การกระจายตัว)</a:t>
            </a:r>
          </a:p>
        </p:txBody>
      </p:sp>
      <p:sp>
        <p:nvSpPr>
          <p:cNvPr id="2" name="Rectangle 1">
            <a:extLst>
              <a:ext uri="{FF2B5EF4-FFF2-40B4-BE49-F238E27FC236}">
                <a16:creationId xmlns:a16="http://schemas.microsoft.com/office/drawing/2014/main" id="{E86F9DC0-1CEB-4DD8-823A-22F10F88BE33}"/>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D9793ACD-08AA-4CCD-AE91-F00856063DDB}"/>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64777C51-4786-436F-83A6-BCA12AD81EBB}"/>
              </a:ext>
            </a:extLst>
          </p:cNvPr>
          <p:cNvSpPr>
            <a:spLocks noGrp="1"/>
          </p:cNvSpPr>
          <p:nvPr/>
        </p:nvSpPr>
        <p:spPr>
          <a:xfrm>
            <a:off x="762000" y="1428750"/>
            <a:ext cx="4790388"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TH" sz="2025" b="1" dirty="0">
                <a:solidFill>
                  <a:srgbClr val="16324F"/>
                </a:solidFill>
                <a:latin typeface="Helvetica Neue"/>
              </a:rPr>
              <a:t>Return Distribution (Histogram)</a:t>
            </a:r>
          </a:p>
        </p:txBody>
      </p:sp>
      <p:sp>
        <p:nvSpPr>
          <p:cNvPr id="5" name="Rectangle 4">
            <a:extLst>
              <a:ext uri="{FF2B5EF4-FFF2-40B4-BE49-F238E27FC236}">
                <a16:creationId xmlns:a16="http://schemas.microsoft.com/office/drawing/2014/main" id="{86B21CD0-B65B-449F-88C3-53FBC0AFECE9}"/>
              </a:ext>
            </a:extLst>
          </p:cNvPr>
          <p:cNvSpPr>
            <a:spLocks noGrp="1"/>
          </p:cNvSpPr>
          <p:nvPr/>
        </p:nvSpPr>
        <p:spPr>
          <a:xfrm>
            <a:off x="762000" y="2000250"/>
            <a:ext cx="10729274" cy="751493"/>
          </a:xfrm>
          <a:prstGeom prst="rect">
            <a:avLst/>
          </a:prstGeom>
          <a:noFill/>
          <a:ln w="0">
            <a:noFill/>
          </a:ln>
        </p:spPr>
        <p:txBody>
          <a:bodyPr anchor="ctr"/>
          <a:lstStyle/>
          <a:p>
            <a:r>
              <a:rPr lang="en-TH" dirty="0"/>
              <a:t>Daily returns approximate a normal distribution centered near zero, with slightly fatter tails indicative of market shocks. Dispersion varies notably by calendar month.</a:t>
            </a:r>
          </a:p>
        </p:txBody>
      </p:sp>
      <p:pic>
        <p:nvPicPr>
          <p:cNvPr id="14" name="Picture 13">
            <a:extLst>
              <a:ext uri="{FF2B5EF4-FFF2-40B4-BE49-F238E27FC236}">
                <a16:creationId xmlns:a16="http://schemas.microsoft.com/office/drawing/2014/main" id="{031EF736-90AC-CFA5-06FA-6F0ED1658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020" y="2658261"/>
            <a:ext cx="6323160" cy="4088828"/>
          </a:xfrm>
          <a:prstGeom prst="rect">
            <a:avLst/>
          </a:prstGeom>
        </p:spPr>
      </p:pic>
    </p:spTree>
    <p:extLst>
      <p:ext uri="{BB962C8B-B14F-4D97-AF65-F5344CB8AC3E}">
        <p14:creationId xmlns:p14="http://schemas.microsoft.com/office/powerpoint/2010/main" val="1379934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953F5-076B-AC37-B021-AA63A2916C4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4179600-2A22-FC10-1380-6022EF666428}"/>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 Boxplot (กราฟกล่อง – ความผันผวนรายเดือน)</a:t>
            </a:r>
          </a:p>
        </p:txBody>
      </p:sp>
      <p:sp>
        <p:nvSpPr>
          <p:cNvPr id="2" name="Rectangle 1">
            <a:extLst>
              <a:ext uri="{FF2B5EF4-FFF2-40B4-BE49-F238E27FC236}">
                <a16:creationId xmlns:a16="http://schemas.microsoft.com/office/drawing/2014/main" id="{3C571C5B-EB2E-5AAC-920E-B07351EFEDA4}"/>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E7756C29-68D3-1F42-6A15-8ACF8054CBC4}"/>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A1C6A379-6A8E-EF4D-2733-61408ED329BC}"/>
              </a:ext>
            </a:extLst>
          </p:cNvPr>
          <p:cNvSpPr>
            <a:spLocks noGrp="1"/>
          </p:cNvSpPr>
          <p:nvPr/>
        </p:nvSpPr>
        <p:spPr>
          <a:xfrm>
            <a:off x="761999" y="1428750"/>
            <a:ext cx="5789629"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TH" sz="2025" b="1" dirty="0">
                <a:solidFill>
                  <a:srgbClr val="16324F"/>
                </a:solidFill>
                <a:latin typeface="Helvetica Neue"/>
              </a:rPr>
              <a:t>Monthly Seasonality &amp; Volatility</a:t>
            </a:r>
          </a:p>
        </p:txBody>
      </p:sp>
      <p:sp>
        <p:nvSpPr>
          <p:cNvPr id="5" name="Rectangle 4">
            <a:extLst>
              <a:ext uri="{FF2B5EF4-FFF2-40B4-BE49-F238E27FC236}">
                <a16:creationId xmlns:a16="http://schemas.microsoft.com/office/drawing/2014/main" id="{EE570923-FBD7-FE3F-3C00-05E92E09B337}"/>
              </a:ext>
            </a:extLst>
          </p:cNvPr>
          <p:cNvSpPr>
            <a:spLocks noGrp="1"/>
          </p:cNvSpPr>
          <p:nvPr/>
        </p:nvSpPr>
        <p:spPr>
          <a:xfrm>
            <a:off x="762000" y="2000250"/>
            <a:ext cx="10635006" cy="1143000"/>
          </a:xfrm>
          <a:prstGeom prst="rect">
            <a:avLst/>
          </a:prstGeom>
          <a:noFill/>
          <a:ln w="0">
            <a:noFill/>
          </a:ln>
        </p:spPr>
        <p:txBody>
          <a:bodyPr anchor="ctr"/>
          <a:lstStyle/>
          <a:p>
            <a:r>
              <a:rPr lang="en-TH" dirty="0"/>
              <a:t>Analyzing returns grouped by calendar month highlights that volatility is not uniformly distributed throughout the year. Certain months (e.g., April and November) show much wider dispersion and extreme outliers compared to others.</a:t>
            </a:r>
          </a:p>
        </p:txBody>
      </p:sp>
      <p:pic>
        <p:nvPicPr>
          <p:cNvPr id="9" name="Picture 8">
            <a:extLst>
              <a:ext uri="{FF2B5EF4-FFF2-40B4-BE49-F238E27FC236}">
                <a16:creationId xmlns:a16="http://schemas.microsoft.com/office/drawing/2014/main" id="{B6A809FE-22DD-43A3-1E45-8D35D9700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886" y="3007151"/>
            <a:ext cx="7470227" cy="3850849"/>
          </a:xfrm>
          <a:prstGeom prst="rect">
            <a:avLst/>
          </a:prstGeom>
        </p:spPr>
      </p:pic>
    </p:spTree>
    <p:extLst>
      <p:ext uri="{BB962C8B-B14F-4D97-AF65-F5344CB8AC3E}">
        <p14:creationId xmlns:p14="http://schemas.microsoft.com/office/powerpoint/2010/main" val="1963368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AB91-5501-0322-EB6B-699C93F49D4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524FB33-B0EC-685D-DC1A-1ADC6C3AB70F}"/>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 Heatmap (ฮีทแมป - ค่าความสัมพันธ์ทางสถิติ)</a:t>
            </a:r>
          </a:p>
        </p:txBody>
      </p:sp>
      <p:sp>
        <p:nvSpPr>
          <p:cNvPr id="2" name="Rectangle 1">
            <a:extLst>
              <a:ext uri="{FF2B5EF4-FFF2-40B4-BE49-F238E27FC236}">
                <a16:creationId xmlns:a16="http://schemas.microsoft.com/office/drawing/2014/main" id="{4F127F21-E54A-7658-E81A-4313CA9BE0D8}"/>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7D0AEDE2-93F2-1E37-2E02-898EA56D8162}"/>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C420428A-BD04-7751-0230-A2CAC00AA61B}"/>
              </a:ext>
            </a:extLst>
          </p:cNvPr>
          <p:cNvSpPr>
            <a:spLocks noGrp="1"/>
          </p:cNvSpPr>
          <p:nvPr/>
        </p:nvSpPr>
        <p:spPr>
          <a:xfrm>
            <a:off x="761999" y="1428750"/>
            <a:ext cx="5865043"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TH" sz="2025" b="1" dirty="0">
                <a:solidFill>
                  <a:srgbClr val="16324F"/>
                </a:solidFill>
                <a:latin typeface="Helvetica Neue"/>
              </a:rPr>
              <a:t>Indicator Multicollinearity</a:t>
            </a:r>
          </a:p>
        </p:txBody>
      </p:sp>
      <p:sp>
        <p:nvSpPr>
          <p:cNvPr id="5" name="Rectangle 4">
            <a:extLst>
              <a:ext uri="{FF2B5EF4-FFF2-40B4-BE49-F238E27FC236}">
                <a16:creationId xmlns:a16="http://schemas.microsoft.com/office/drawing/2014/main" id="{8CBFEF04-6937-D5B0-AFE4-63B6469D523E}"/>
              </a:ext>
            </a:extLst>
          </p:cNvPr>
          <p:cNvSpPr>
            <a:spLocks noGrp="1"/>
          </p:cNvSpPr>
          <p:nvPr/>
        </p:nvSpPr>
        <p:spPr>
          <a:xfrm>
            <a:off x="762000" y="2000250"/>
            <a:ext cx="10820400" cy="1143000"/>
          </a:xfrm>
          <a:prstGeom prst="rect">
            <a:avLst/>
          </a:prstGeom>
          <a:noFill/>
          <a:ln w="0">
            <a:noFill/>
          </a:ln>
        </p:spPr>
        <p:txBody>
          <a:bodyPr anchor="ctr"/>
          <a:lstStyle/>
          <a:p>
            <a:r>
              <a:rPr lang="en-TH" dirty="0"/>
              <a:t>A Pearson correlation heatmap of the 21 technical indicators confirms strong collinearity within specific indicator families. For instance, Trend indicators (e.g., SMA ratios) form highly correlated dark red clusters, indicating redundant information.</a:t>
            </a:r>
          </a:p>
          <a:p>
            <a:endParaRPr lang="en-TH" dirty="0"/>
          </a:p>
        </p:txBody>
      </p:sp>
      <p:pic>
        <p:nvPicPr>
          <p:cNvPr id="8" name="Picture 7">
            <a:extLst>
              <a:ext uri="{FF2B5EF4-FFF2-40B4-BE49-F238E27FC236}">
                <a16:creationId xmlns:a16="http://schemas.microsoft.com/office/drawing/2014/main" id="{EFDAF92D-1904-BBF7-E223-2279BE6B1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336" y="2624392"/>
            <a:ext cx="5109327" cy="4233608"/>
          </a:xfrm>
          <a:prstGeom prst="rect">
            <a:avLst/>
          </a:prstGeom>
        </p:spPr>
      </p:pic>
    </p:spTree>
    <p:extLst>
      <p:ext uri="{BB962C8B-B14F-4D97-AF65-F5344CB8AC3E}">
        <p14:creationId xmlns:p14="http://schemas.microsoft.com/office/powerpoint/2010/main" val="3668865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C7FA9-EDD3-A6ED-BCA7-BC9F7B49FFA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E7FFAD5-0088-527D-C315-E2F7CA9E6732}"/>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 Scatter plot (กราฟจุด - ความสัมพันธ์ระหว่างตัวแปร)</a:t>
            </a:r>
          </a:p>
        </p:txBody>
      </p:sp>
      <p:sp>
        <p:nvSpPr>
          <p:cNvPr id="2" name="Rectangle 1">
            <a:extLst>
              <a:ext uri="{FF2B5EF4-FFF2-40B4-BE49-F238E27FC236}">
                <a16:creationId xmlns:a16="http://schemas.microsoft.com/office/drawing/2014/main" id="{762E67AE-BC24-9061-9BE9-0F56FA060D88}"/>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590A640E-6D80-39B9-972D-0D26B6A7B63D}"/>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57F42EE2-D5AA-2223-757B-87089440C904}"/>
              </a:ext>
            </a:extLst>
          </p:cNvPr>
          <p:cNvSpPr>
            <a:spLocks noGrp="1"/>
          </p:cNvSpPr>
          <p:nvPr/>
        </p:nvSpPr>
        <p:spPr>
          <a:xfrm>
            <a:off x="762000" y="1428750"/>
            <a:ext cx="3143250"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TH" sz="2025" b="1" dirty="0">
                <a:solidFill>
                  <a:srgbClr val="16324F"/>
                </a:solidFill>
                <a:latin typeface="Helvetica Neue"/>
              </a:rPr>
              <a:t>Indicator Relationships</a:t>
            </a:r>
          </a:p>
        </p:txBody>
      </p:sp>
      <p:sp>
        <p:nvSpPr>
          <p:cNvPr id="5" name="Rectangle 4">
            <a:extLst>
              <a:ext uri="{FF2B5EF4-FFF2-40B4-BE49-F238E27FC236}">
                <a16:creationId xmlns:a16="http://schemas.microsoft.com/office/drawing/2014/main" id="{AD222FFB-6680-C3A0-07FF-0055124D54F8}"/>
              </a:ext>
            </a:extLst>
          </p:cNvPr>
          <p:cNvSpPr>
            <a:spLocks noGrp="1"/>
          </p:cNvSpPr>
          <p:nvPr/>
        </p:nvSpPr>
        <p:spPr>
          <a:xfrm>
            <a:off x="762000" y="2000250"/>
            <a:ext cx="10820400" cy="1143000"/>
          </a:xfrm>
          <a:prstGeom prst="rect">
            <a:avLst/>
          </a:prstGeom>
          <a:noFill/>
          <a:ln w="0">
            <a:noFill/>
          </a:ln>
        </p:spPr>
        <p:txBody>
          <a:bodyPr anchor="ctr"/>
          <a:lstStyle/>
          <a:p>
            <a:r>
              <a:rPr lang="en-TH" dirty="0"/>
              <a:t>Scatter plots of momentum indicators, such as the 14-day RSI aganst ext-day returns, reveal dense clusters without strict linear separability, necessitating non-linear modeling. The correlation heatmap confirms strong collinearity within specific indicator families, such as moving average ratios.</a:t>
            </a:r>
          </a:p>
        </p:txBody>
      </p:sp>
      <p:pic>
        <p:nvPicPr>
          <p:cNvPr id="14" name="Picture 13">
            <a:extLst>
              <a:ext uri="{FF2B5EF4-FFF2-40B4-BE49-F238E27FC236}">
                <a16:creationId xmlns:a16="http://schemas.microsoft.com/office/drawing/2014/main" id="{49186ACC-6E6E-2FC3-C67A-A07F10CC8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4411" y="3007150"/>
            <a:ext cx="5823177" cy="3765517"/>
          </a:xfrm>
          <a:prstGeom prst="rect">
            <a:avLst/>
          </a:prstGeom>
        </p:spPr>
      </p:pic>
    </p:spTree>
    <p:extLst>
      <p:ext uri="{BB962C8B-B14F-4D97-AF65-F5344CB8AC3E}">
        <p14:creationId xmlns:p14="http://schemas.microsoft.com/office/powerpoint/2010/main" val="49405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887F9-70FF-616B-BD30-41A731654A2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A8860E3-0806-4908-3521-8ED6CEE31829}"/>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Exploratory Data Analysis: Bar chart (กราฟแท่ง - ความสมดุลของคลาส)</a:t>
            </a:r>
          </a:p>
        </p:txBody>
      </p:sp>
      <p:sp>
        <p:nvSpPr>
          <p:cNvPr id="2" name="Rectangle 1">
            <a:extLst>
              <a:ext uri="{FF2B5EF4-FFF2-40B4-BE49-F238E27FC236}">
                <a16:creationId xmlns:a16="http://schemas.microsoft.com/office/drawing/2014/main" id="{A832A6C1-ADDD-20A8-B80F-25F64251047E}"/>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5</a:t>
            </a:r>
          </a:p>
        </p:txBody>
      </p:sp>
      <p:sp>
        <p:nvSpPr>
          <p:cNvPr id="3" name="Rectangle 2">
            <a:extLst>
              <a:ext uri="{FF2B5EF4-FFF2-40B4-BE49-F238E27FC236}">
                <a16:creationId xmlns:a16="http://schemas.microsoft.com/office/drawing/2014/main" id="{EFE33A1B-3E65-C49C-16CE-33ED8AFA366C}"/>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B59626D2-87ED-F380-7B06-884AB49F47B1}"/>
              </a:ext>
            </a:extLst>
          </p:cNvPr>
          <p:cNvSpPr>
            <a:spLocks noGrp="1"/>
          </p:cNvSpPr>
          <p:nvPr/>
        </p:nvSpPr>
        <p:spPr>
          <a:xfrm>
            <a:off x="762000" y="1428750"/>
            <a:ext cx="3143250" cy="400050"/>
          </a:xfrm>
          <a:prstGeom prst="rect">
            <a:avLst/>
          </a:prstGeom>
          <a:noFill/>
          <a:ln w="0">
            <a:noFill/>
          </a:ln>
        </p:spPr>
        <p:txBody>
          <a:bodyPr anchor="ctr"/>
          <a:lstStyle/>
          <a:p>
            <a:pPr>
              <a:defRPr sz="2025" b="1">
                <a:solidFill>
                  <a:srgbClr val="16324F"/>
                </a:solidFill>
                <a:latin typeface="Helvetica Neue"/>
                <a:ea typeface="Helvetica Neue"/>
                <a:cs typeface="Helvetica Neue"/>
              </a:defRPr>
            </a:pPr>
            <a:r>
              <a:rPr lang="en-US" sz="2025" b="1" dirty="0">
                <a:solidFill>
                  <a:srgbClr val="16324F"/>
                </a:solidFill>
                <a:latin typeface="Helvetica Neue"/>
                <a:ea typeface="Helvetica Neue"/>
                <a:cs typeface="Helvetica Neue"/>
              </a:rPr>
              <a:t>Class balance</a:t>
            </a:r>
          </a:p>
        </p:txBody>
      </p:sp>
      <p:sp>
        <p:nvSpPr>
          <p:cNvPr id="5" name="Rectangle 4">
            <a:extLst>
              <a:ext uri="{FF2B5EF4-FFF2-40B4-BE49-F238E27FC236}">
                <a16:creationId xmlns:a16="http://schemas.microsoft.com/office/drawing/2014/main" id="{BADDDDBF-377F-34FE-7720-86B0D1697780}"/>
              </a:ext>
            </a:extLst>
          </p:cNvPr>
          <p:cNvSpPr>
            <a:spLocks noGrp="1"/>
          </p:cNvSpPr>
          <p:nvPr/>
        </p:nvSpPr>
        <p:spPr>
          <a:xfrm>
            <a:off x="762000" y="2000250"/>
            <a:ext cx="10635006" cy="1143000"/>
          </a:xfrm>
          <a:prstGeom prst="rect">
            <a:avLst/>
          </a:prstGeom>
          <a:noFill/>
          <a:ln w="0">
            <a:noFill/>
          </a:ln>
        </p:spPr>
        <p:txBody>
          <a:bodyPr anchor="ctr"/>
          <a:lstStyle/>
          <a:p>
            <a:r>
              <a:rPr lang="en-TH" dirty="0"/>
              <a:t>The target variable is slightly imbalanced, with "Up" days occurring 54.46% of the time compared to "Down or flat" days.</a:t>
            </a:r>
          </a:p>
        </p:txBody>
      </p:sp>
      <p:pic>
        <p:nvPicPr>
          <p:cNvPr id="14" name="Picture 13">
            <a:extLst>
              <a:ext uri="{FF2B5EF4-FFF2-40B4-BE49-F238E27FC236}">
                <a16:creationId xmlns:a16="http://schemas.microsoft.com/office/drawing/2014/main" id="{5921500E-3B3A-3F44-3070-84C297F78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9943" y="2907296"/>
            <a:ext cx="5052113" cy="3950704"/>
          </a:xfrm>
          <a:prstGeom prst="rect">
            <a:avLst/>
          </a:prstGeom>
        </p:spPr>
      </p:pic>
    </p:spTree>
    <p:extLst>
      <p:ext uri="{BB962C8B-B14F-4D97-AF65-F5344CB8AC3E}">
        <p14:creationId xmlns:p14="http://schemas.microsoft.com/office/powerpoint/2010/main" val="3726178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81EB89F-1EB4-4CFA-B4C2-3F64B9502EC5}"/>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Feature Engineering: The 21 Technical Indicators </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6345BCCF-C43D-4D8B-97D6-13367110404F}"/>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35BAD893-E7FA-46BE-8923-4247D26A447C}"/>
              </a:ext>
            </a:extLst>
          </p:cNvPr>
          <p:cNvSpPr>
            <a:spLocks noGrp="1"/>
          </p:cNvSpPr>
          <p:nvPr/>
        </p:nvSpPr>
        <p:spPr>
          <a:xfrm>
            <a:off x="609600" y="1095375"/>
            <a:ext cx="10972800" cy="28575"/>
          </a:xfrm>
          <a:prstGeom prst="rect">
            <a:avLst/>
          </a:prstGeom>
          <a:solidFill>
            <a:srgbClr val="2F80ED"/>
          </a:solidFill>
          <a:ln w="0">
            <a:noFill/>
          </a:ln>
        </p:spPr>
        <p:txBody>
          <a:bodyPr/>
          <a:lstStyle/>
          <a:p>
            <a:endParaRPr lang="en-TH"/>
          </a:p>
        </p:txBody>
      </p:sp>
      <p:sp>
        <p:nvSpPr>
          <p:cNvPr id="10" name="Rectangle 9">
            <a:extLst>
              <a:ext uri="{FF2B5EF4-FFF2-40B4-BE49-F238E27FC236}">
                <a16:creationId xmlns:a16="http://schemas.microsoft.com/office/drawing/2014/main" id="{B1E99E88-7A80-4F78-A93B-EDF87A4F01CA}"/>
              </a:ext>
            </a:extLst>
          </p:cNvPr>
          <p:cNvSpPr>
            <a:spLocks noGrp="1"/>
          </p:cNvSpPr>
          <p:nvPr/>
        </p:nvSpPr>
        <p:spPr>
          <a:xfrm>
            <a:off x="857250" y="3714750"/>
            <a:ext cx="2381250" cy="419100"/>
          </a:xfrm>
          <a:prstGeom prst="rect">
            <a:avLst/>
          </a:prstGeom>
          <a:noFill/>
          <a:ln w="0">
            <a:noFill/>
          </a:ln>
        </p:spPr>
        <p:txBody>
          <a:bodyPr anchor="ctr"/>
          <a:lstStyle/>
          <a:p>
            <a:pPr algn="l">
              <a:defRPr sz="2100" b="1">
                <a:solidFill>
                  <a:srgbClr val="16324F"/>
                </a:solidFill>
                <a:latin typeface="Helvetica Neue"/>
                <a:ea typeface="Helvetica Neue"/>
                <a:cs typeface="Helvetica Neue"/>
              </a:defRPr>
            </a:pPr>
            <a:r>
              <a:rPr sz="2100" b="1">
                <a:solidFill>
                  <a:srgbClr val="16324F"/>
                </a:solidFill>
                <a:latin typeface="Helvetica Neue"/>
                <a:ea typeface="Helvetica Neue"/>
                <a:cs typeface="Helvetica Neue"/>
              </a:rPr>
              <a:t>Validation</a:t>
            </a:r>
          </a:p>
        </p:txBody>
      </p:sp>
      <p:sp>
        <p:nvSpPr>
          <p:cNvPr id="11" name="Rectangle 10">
            <a:extLst>
              <a:ext uri="{FF2B5EF4-FFF2-40B4-BE49-F238E27FC236}">
                <a16:creationId xmlns:a16="http://schemas.microsoft.com/office/drawing/2014/main" id="{05B34988-CB0D-49A6-AFCC-21CDB4B992C8}"/>
              </a:ext>
            </a:extLst>
          </p:cNvPr>
          <p:cNvSpPr>
            <a:spLocks noGrp="1"/>
          </p:cNvSpPr>
          <p:nvPr/>
        </p:nvSpPr>
        <p:spPr>
          <a:xfrm>
            <a:off x="857250" y="4286250"/>
            <a:ext cx="228600" cy="381000"/>
          </a:xfrm>
          <a:prstGeom prst="rect">
            <a:avLst/>
          </a:prstGeom>
          <a:noFill/>
          <a:ln w="0">
            <a:noFill/>
          </a:ln>
        </p:spPr>
        <p:txBody>
          <a:bodyPr anchor="ctr"/>
          <a:lstStyle/>
          <a:p>
            <a:pPr algn="l">
              <a:defRPr sz="1650" b="1">
                <a:solidFill>
                  <a:srgbClr val="2F80ED"/>
                </a:solidFill>
                <a:latin typeface="Helvetica Neue"/>
                <a:ea typeface="Helvetica Neue"/>
                <a:cs typeface="Helvetica Neue"/>
              </a:defRPr>
            </a:pPr>
            <a:endParaRPr sz="1650" b="1" dirty="0">
              <a:solidFill>
                <a:srgbClr val="2F80ED"/>
              </a:solidFill>
              <a:latin typeface="Helvetica Neue"/>
              <a:ea typeface="Helvetica Neue"/>
              <a:cs typeface="Helvetica Neue"/>
            </a:endParaRPr>
          </a:p>
        </p:txBody>
      </p:sp>
      <p:graphicFrame>
        <p:nvGraphicFramePr>
          <p:cNvPr id="21" name="Table 20">
            <a:extLst>
              <a:ext uri="{FF2B5EF4-FFF2-40B4-BE49-F238E27FC236}">
                <a16:creationId xmlns:a16="http://schemas.microsoft.com/office/drawing/2014/main" id="{E7A66501-D0D7-486B-E946-A9B05F5B31C0}"/>
              </a:ext>
            </a:extLst>
          </p:cNvPr>
          <p:cNvGraphicFramePr>
            <a:graphicFrameLocks noGrp="1"/>
          </p:cNvGraphicFramePr>
          <p:nvPr>
            <p:extLst>
              <p:ext uri="{D42A27DB-BD31-4B8C-83A1-F6EECF244321}">
                <p14:modId xmlns:p14="http://schemas.microsoft.com/office/powerpoint/2010/main" val="3446788208"/>
              </p:ext>
            </p:extLst>
          </p:nvPr>
        </p:nvGraphicFramePr>
        <p:xfrm>
          <a:off x="609600" y="2745106"/>
          <a:ext cx="10972800" cy="3032760"/>
        </p:xfrm>
        <a:graphic>
          <a:graphicData uri="http://schemas.openxmlformats.org/drawingml/2006/table">
            <a:tbl>
              <a:tblPr>
                <a:tableStyleId>{5C22544A-7EE6-4342-B048-85BDC9FD1C3A}</a:tableStyleId>
              </a:tblPr>
              <a:tblGrid>
                <a:gridCol w="3657600">
                  <a:extLst>
                    <a:ext uri="{9D8B030D-6E8A-4147-A177-3AD203B41FA5}">
                      <a16:colId xmlns:a16="http://schemas.microsoft.com/office/drawing/2014/main" val="1566548902"/>
                    </a:ext>
                  </a:extLst>
                </a:gridCol>
                <a:gridCol w="3657600">
                  <a:extLst>
                    <a:ext uri="{9D8B030D-6E8A-4147-A177-3AD203B41FA5}">
                      <a16:colId xmlns:a16="http://schemas.microsoft.com/office/drawing/2014/main" val="1507381284"/>
                    </a:ext>
                  </a:extLst>
                </a:gridCol>
                <a:gridCol w="3657600">
                  <a:extLst>
                    <a:ext uri="{9D8B030D-6E8A-4147-A177-3AD203B41FA5}">
                      <a16:colId xmlns:a16="http://schemas.microsoft.com/office/drawing/2014/main" val="3638501277"/>
                    </a:ext>
                  </a:extLst>
                </a:gridCol>
              </a:tblGrid>
              <a:tr h="0">
                <a:tc>
                  <a:txBody>
                    <a:bodyPr/>
                    <a:lstStyle/>
                    <a:p>
                      <a:pPr>
                        <a:buNone/>
                      </a:pPr>
                      <a:r>
                        <a:rPr lang="en-TH" sz="1400" dirty="0">
                          <a:effectLst/>
                          <a:latin typeface="Helvetica Neue" panose="02000503000000020004" pitchFamily="2" charset="0"/>
                          <a:ea typeface="Helvetica Neue" panose="02000503000000020004" pitchFamily="2" charset="0"/>
                          <a:cs typeface="Helvetica Neue" panose="02000503000000020004" pitchFamily="2" charset="0"/>
                        </a:rPr>
                        <a:t>Feature Family</a:t>
                      </a:r>
                      <a:endParaRPr lang="en-TH" sz="1400" b="1"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95250" marR="95250" marT="57150" marB="57150" anchor="ctr"/>
                </a:tc>
                <a:tc>
                  <a:txBody>
                    <a:bodyPr/>
                    <a:lstStyle/>
                    <a:p>
                      <a:pPr>
                        <a:buNone/>
                      </a:pPr>
                      <a:r>
                        <a:rPr lang="en-TH" sz="1400" dirty="0">
                          <a:effectLst/>
                          <a:latin typeface="Helvetica Neue" panose="02000503000000020004" pitchFamily="2" charset="0"/>
                          <a:ea typeface="Helvetica Neue" panose="02000503000000020004" pitchFamily="2" charset="0"/>
                          <a:cs typeface="Helvetica Neue" panose="02000503000000020004" pitchFamily="2" charset="0"/>
                        </a:rPr>
                        <a:t>Examples in Implementation</a:t>
                      </a:r>
                      <a:endParaRPr lang="en-TH" sz="1400" b="1" dirty="0">
                        <a:effectLst/>
                        <a:latin typeface="Helvetica Neue" panose="02000503000000020004" pitchFamily="2" charset="0"/>
                        <a:ea typeface="Helvetica Neue" panose="02000503000000020004" pitchFamily="2" charset="0"/>
                        <a:cs typeface="Helvetica Neue" panose="02000503000000020004" pitchFamily="2" charset="0"/>
                      </a:endParaRP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Primary Purpose (Market Aspect)</a:t>
                      </a:r>
                      <a:endParaRPr lang="en-TH" sz="1400" b="1">
                        <a:effectLst/>
                        <a:latin typeface="Helvetica Neue" panose="02000503000000020004" pitchFamily="2" charset="0"/>
                        <a:ea typeface="Helvetica Neue" panose="02000503000000020004" pitchFamily="2" charset="0"/>
                        <a:cs typeface="Helvetica Neue" panose="02000503000000020004" pitchFamily="2" charset="0"/>
                      </a:endParaRPr>
                    </a:p>
                  </a:txBody>
                  <a:tcPr marL="95250" marR="95250" marT="57150" marB="57150" anchor="ctr"/>
                </a:tc>
                <a:extLst>
                  <a:ext uri="{0D108BD9-81ED-4DB2-BD59-A6C34878D82A}">
                    <a16:rowId xmlns:a16="http://schemas.microsoft.com/office/drawing/2014/main" val="1752639048"/>
                  </a:ext>
                </a:extLst>
              </a:tr>
              <a:tr h="0">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Return History</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1-day return, 5-day return, Gap return</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Evaluates recent price behavior and baseline shifts.</a:t>
                      </a:r>
                    </a:p>
                  </a:txBody>
                  <a:tcPr marL="95250" marR="95250" marT="57150" marB="57150" anchor="ctr"/>
                </a:tc>
                <a:extLst>
                  <a:ext uri="{0D108BD9-81ED-4DB2-BD59-A6C34878D82A}">
                    <a16:rowId xmlns:a16="http://schemas.microsoft.com/office/drawing/2014/main" val="555172973"/>
                  </a:ext>
                </a:extLst>
              </a:tr>
              <a:tr h="0">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Trend</a:t>
                      </a:r>
                    </a:p>
                  </a:txBody>
                  <a:tcPr marL="95250" marR="95250" marT="57150" marB="57150" anchor="ctr"/>
                </a:tc>
                <a:tc>
                  <a:txBody>
                    <a:bodyPr/>
                    <a:lstStyle/>
                    <a:p>
                      <a:pPr>
                        <a:buNone/>
                      </a:pPr>
                      <a:r>
                        <a:rPr lang="en-TH" sz="1400" dirty="0">
                          <a:effectLst/>
                          <a:latin typeface="Helvetica Neue" panose="02000503000000020004" pitchFamily="2" charset="0"/>
                          <a:ea typeface="Helvetica Neue" panose="02000503000000020004" pitchFamily="2" charset="0"/>
                          <a:cs typeface="Helvetica Neue" panose="02000503000000020004" pitchFamily="2" charset="0"/>
                        </a:rPr>
                        <a:t>SMA (5/10/20), EMA, MACD</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Identifies the broader price direction and moving averages.</a:t>
                      </a:r>
                    </a:p>
                  </a:txBody>
                  <a:tcPr marL="95250" marR="95250" marT="57150" marB="57150" anchor="ctr"/>
                </a:tc>
                <a:extLst>
                  <a:ext uri="{0D108BD9-81ED-4DB2-BD59-A6C34878D82A}">
                    <a16:rowId xmlns:a16="http://schemas.microsoft.com/office/drawing/2014/main" val="3422803308"/>
                  </a:ext>
                </a:extLst>
              </a:tr>
              <a:tr h="0">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Momentum</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RSI, Stochastic %K, Rate of Change</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Measures the strength and velocity of price movements.</a:t>
                      </a:r>
                    </a:p>
                  </a:txBody>
                  <a:tcPr marL="95250" marR="95250" marT="57150" marB="57150" anchor="ctr"/>
                </a:tc>
                <a:extLst>
                  <a:ext uri="{0D108BD9-81ED-4DB2-BD59-A6C34878D82A}">
                    <a16:rowId xmlns:a16="http://schemas.microsoft.com/office/drawing/2014/main" val="3300764717"/>
                  </a:ext>
                </a:extLst>
              </a:tr>
              <a:tr h="0">
                <a:tc>
                  <a:txBody>
                    <a:bodyPr/>
                    <a:lstStyle/>
                    <a:p>
                      <a:pPr>
                        <a:buNone/>
                      </a:pPr>
                      <a:r>
                        <a:rPr lang="en-TH" sz="1400" dirty="0">
                          <a:effectLst/>
                          <a:latin typeface="Helvetica Neue" panose="02000503000000020004" pitchFamily="2" charset="0"/>
                          <a:ea typeface="Helvetica Neue" panose="02000503000000020004" pitchFamily="2" charset="0"/>
                          <a:cs typeface="Helvetica Neue" panose="02000503000000020004" pitchFamily="2" charset="0"/>
                        </a:rPr>
                        <a:t>Volatility</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ATR, 10/20-day Volatility, BB Width</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Quantifies the magnitude of fluctuations and market uncertainty.</a:t>
                      </a:r>
                    </a:p>
                  </a:txBody>
                  <a:tcPr marL="95250" marR="95250" marT="57150" marB="57150" anchor="ctr"/>
                </a:tc>
                <a:extLst>
                  <a:ext uri="{0D108BD9-81ED-4DB2-BD59-A6C34878D82A}">
                    <a16:rowId xmlns:a16="http://schemas.microsoft.com/office/drawing/2014/main" val="794151689"/>
                  </a:ext>
                </a:extLst>
              </a:tr>
              <a:tr h="0">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Volume</a:t>
                      </a:r>
                    </a:p>
                  </a:txBody>
                  <a:tcPr marL="95250" marR="95250" marT="57150" marB="57150" anchor="ctr"/>
                </a:tc>
                <a:tc>
                  <a:txBody>
                    <a:bodyPr/>
                    <a:lstStyle/>
                    <a:p>
                      <a:pPr>
                        <a:buNone/>
                      </a:pPr>
                      <a:r>
                        <a:rPr lang="en-TH" sz="1400">
                          <a:effectLst/>
                          <a:latin typeface="Helvetica Neue" panose="02000503000000020004" pitchFamily="2" charset="0"/>
                          <a:ea typeface="Helvetica Neue" panose="02000503000000020004" pitchFamily="2" charset="0"/>
                          <a:cs typeface="Helvetica Neue" panose="02000503000000020004" pitchFamily="2" charset="0"/>
                        </a:rPr>
                        <a:t>Volume Change, Volume Ratio, OBV</a:t>
                      </a:r>
                    </a:p>
                  </a:txBody>
                  <a:tcPr marL="95250" marR="95250" marT="57150" marB="57150" anchor="ctr"/>
                </a:tc>
                <a:tc>
                  <a:txBody>
                    <a:bodyPr/>
                    <a:lstStyle/>
                    <a:p>
                      <a:pPr>
                        <a:buNone/>
                      </a:pPr>
                      <a:r>
                        <a:rPr lang="en-TH" sz="1400" dirty="0">
                          <a:effectLst/>
                          <a:latin typeface="Helvetica Neue" panose="02000503000000020004" pitchFamily="2" charset="0"/>
                          <a:ea typeface="Helvetica Neue" panose="02000503000000020004" pitchFamily="2" charset="0"/>
                          <a:cs typeface="Helvetica Neue" panose="02000503000000020004" pitchFamily="2" charset="0"/>
                        </a:rPr>
                        <a:t>Reflects trading activity and market conviction behind price moves.</a:t>
                      </a:r>
                    </a:p>
                  </a:txBody>
                  <a:tcPr marL="95250" marR="95250" marT="57150" marB="57150" anchor="ctr"/>
                </a:tc>
                <a:extLst>
                  <a:ext uri="{0D108BD9-81ED-4DB2-BD59-A6C34878D82A}">
                    <a16:rowId xmlns:a16="http://schemas.microsoft.com/office/drawing/2014/main" val="1237777205"/>
                  </a:ext>
                </a:extLst>
              </a:tr>
            </a:tbl>
          </a:graphicData>
        </a:graphic>
      </p:graphicFrame>
      <p:sp>
        <p:nvSpPr>
          <p:cNvPr id="22" name="TextBox 21">
            <a:extLst>
              <a:ext uri="{FF2B5EF4-FFF2-40B4-BE49-F238E27FC236}">
                <a16:creationId xmlns:a16="http://schemas.microsoft.com/office/drawing/2014/main" id="{C508C257-FE93-823A-6858-831E9048C3E8}"/>
              </a:ext>
            </a:extLst>
          </p:cNvPr>
          <p:cNvSpPr txBox="1"/>
          <p:nvPr/>
        </p:nvSpPr>
        <p:spPr>
          <a:xfrm>
            <a:off x="609600" y="1396186"/>
            <a:ext cx="10972800" cy="1200329"/>
          </a:xfrm>
          <a:prstGeom prst="rect">
            <a:avLst/>
          </a:prstGeom>
          <a:noFill/>
        </p:spPr>
        <p:txBody>
          <a:bodyPr wrap="square" rtlCol="0">
            <a:spAutoFit/>
          </a:bodyPr>
          <a:lstStyle/>
          <a:p>
            <a:r>
              <a:rPr lang="en-TH" dirty="0"/>
              <a:t>Financial markets are highly complex. Different indicators describe fundamentally different aspects of market behavior. Relying on a single dimension (e.g., only Trend) would leave the model blind to other critical context (e.g., Volatility). By combining these dimensions, the model gains a holistic view of the market state.</a:t>
            </a:r>
            <a:br>
              <a:rPr lang="en-TH" dirty="0"/>
            </a:br>
            <a:r>
              <a:rPr lang="en-TH" dirty="0"/>
              <a:t>The 21 features implemented in this study are detailed below </a:t>
            </a:r>
          </a:p>
        </p:txBody>
      </p:sp>
    </p:spTree>
    <p:extLst>
      <p:ext uri="{BB962C8B-B14F-4D97-AF65-F5344CB8AC3E}">
        <p14:creationId xmlns:p14="http://schemas.microsoft.com/office/powerpoint/2010/main" val="987812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D563C-1E77-C437-86F5-4EBBCD75B291}"/>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2248A166-0065-D49A-2D84-FCD70EED8728}"/>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Train/Test Design &amp; Class Balance</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CC5567A6-114B-8137-C2A0-98F7D903CFC6}"/>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2195C66D-4DFE-6B40-C327-46BD8994C8DB}"/>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graphicFrame>
        <p:nvGraphicFramePr>
          <p:cNvPr id="20" name="Table 19">
            <a:extLst>
              <a:ext uri="{FF2B5EF4-FFF2-40B4-BE49-F238E27FC236}">
                <a16:creationId xmlns:a16="http://schemas.microsoft.com/office/drawing/2014/main" id="{D311D0BA-EC00-2BA5-AE46-1848C0F716BA}"/>
              </a:ext>
            </a:extLst>
          </p:cNvPr>
          <p:cNvGraphicFramePr>
            <a:graphicFrameLocks noGrp="1"/>
          </p:cNvGraphicFramePr>
          <p:nvPr>
            <p:extLst>
              <p:ext uri="{D42A27DB-BD31-4B8C-83A1-F6EECF244321}">
                <p14:modId xmlns:p14="http://schemas.microsoft.com/office/powerpoint/2010/main" val="775839618"/>
              </p:ext>
            </p:extLst>
          </p:nvPr>
        </p:nvGraphicFramePr>
        <p:xfrm>
          <a:off x="609600" y="2278177"/>
          <a:ext cx="10515600" cy="265176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488109387"/>
                    </a:ext>
                  </a:extLst>
                </a:gridCol>
                <a:gridCol w="2628900">
                  <a:extLst>
                    <a:ext uri="{9D8B030D-6E8A-4147-A177-3AD203B41FA5}">
                      <a16:colId xmlns:a16="http://schemas.microsoft.com/office/drawing/2014/main" val="4006319788"/>
                    </a:ext>
                  </a:extLst>
                </a:gridCol>
                <a:gridCol w="2628900">
                  <a:extLst>
                    <a:ext uri="{9D8B030D-6E8A-4147-A177-3AD203B41FA5}">
                      <a16:colId xmlns:a16="http://schemas.microsoft.com/office/drawing/2014/main" val="2695180679"/>
                    </a:ext>
                  </a:extLst>
                </a:gridCol>
                <a:gridCol w="2628900">
                  <a:extLst>
                    <a:ext uri="{9D8B030D-6E8A-4147-A177-3AD203B41FA5}">
                      <a16:colId xmlns:a16="http://schemas.microsoft.com/office/drawing/2014/main" val="877056962"/>
                    </a:ext>
                  </a:extLst>
                </a:gridCol>
              </a:tblGrid>
              <a:tr h="0">
                <a:tc>
                  <a:txBody>
                    <a:bodyPr/>
                    <a:lstStyle/>
                    <a:p>
                      <a:pPr>
                        <a:buNone/>
                      </a:pPr>
                      <a:r>
                        <a:rPr lang="en-TH">
                          <a:effectLst/>
                        </a:rPr>
                        <a:t>Phase</a:t>
                      </a:r>
                      <a:endParaRPr lang="en-TH" b="1">
                        <a:effectLst/>
                      </a:endParaRPr>
                    </a:p>
                  </a:txBody>
                  <a:tcPr marL="95250" marR="95250" marT="57150" marB="57150" anchor="ctr"/>
                </a:tc>
                <a:tc>
                  <a:txBody>
                    <a:bodyPr/>
                    <a:lstStyle/>
                    <a:p>
                      <a:pPr>
                        <a:buNone/>
                      </a:pPr>
                      <a:r>
                        <a:rPr lang="en-TH">
                          <a:effectLst/>
                        </a:rPr>
                        <a:t>Rows</a:t>
                      </a:r>
                      <a:endParaRPr lang="en-TH" b="1">
                        <a:effectLst/>
                      </a:endParaRPr>
                    </a:p>
                  </a:txBody>
                  <a:tcPr marL="95250" marR="95250" marT="57150" marB="57150" anchor="ctr"/>
                </a:tc>
                <a:tc>
                  <a:txBody>
                    <a:bodyPr/>
                    <a:lstStyle/>
                    <a:p>
                      <a:pPr>
                        <a:buNone/>
                      </a:pPr>
                      <a:r>
                        <a:rPr lang="en-TH">
                          <a:effectLst/>
                        </a:rPr>
                        <a:t>Date Range</a:t>
                      </a:r>
                      <a:endParaRPr lang="en-TH" b="1">
                        <a:effectLst/>
                      </a:endParaRPr>
                    </a:p>
                  </a:txBody>
                  <a:tcPr marL="95250" marR="95250" marT="57150" marB="57150" anchor="ctr"/>
                </a:tc>
                <a:tc>
                  <a:txBody>
                    <a:bodyPr/>
                    <a:lstStyle/>
                    <a:p>
                      <a:pPr>
                        <a:buNone/>
                      </a:pPr>
                      <a:r>
                        <a:rPr lang="en-TH">
                          <a:effectLst/>
                        </a:rPr>
                        <a:t>Purpose</a:t>
                      </a:r>
                      <a:endParaRPr lang="en-TH" b="1">
                        <a:effectLst/>
                      </a:endParaRPr>
                    </a:p>
                  </a:txBody>
                  <a:tcPr marL="95250" marR="95250" marT="57150" marB="57150" anchor="ctr"/>
                </a:tc>
                <a:extLst>
                  <a:ext uri="{0D108BD9-81ED-4DB2-BD59-A6C34878D82A}">
                    <a16:rowId xmlns:a16="http://schemas.microsoft.com/office/drawing/2014/main" val="1371591681"/>
                  </a:ext>
                </a:extLst>
              </a:tr>
              <a:tr h="0">
                <a:tc>
                  <a:txBody>
                    <a:bodyPr/>
                    <a:lstStyle/>
                    <a:p>
                      <a:pPr>
                        <a:buNone/>
                      </a:pPr>
                      <a:r>
                        <a:rPr lang="en-TH">
                          <a:effectLst/>
                        </a:rPr>
                        <a:t>Training &amp; EDA</a:t>
                      </a:r>
                    </a:p>
                  </a:txBody>
                  <a:tcPr marL="95250" marR="95250" marT="57150" marB="57150" anchor="ctr"/>
                </a:tc>
                <a:tc>
                  <a:txBody>
                    <a:bodyPr/>
                    <a:lstStyle/>
                    <a:p>
                      <a:pPr>
                        <a:buNone/>
                      </a:pPr>
                      <a:r>
                        <a:rPr lang="en-TH" dirty="0">
                          <a:effectLst/>
                        </a:rPr>
                        <a:t>1,128</a:t>
                      </a:r>
                    </a:p>
                  </a:txBody>
                  <a:tcPr marL="95250" marR="95250" marT="57150" marB="57150" anchor="ctr"/>
                </a:tc>
                <a:tc>
                  <a:txBody>
                    <a:bodyPr/>
                    <a:lstStyle/>
                    <a:p>
                      <a:pPr>
                        <a:buNone/>
                      </a:pPr>
                      <a:r>
                        <a:rPr lang="en-TH">
                          <a:effectLst/>
                        </a:rPr>
                        <a:t>2 Feb 2021 – 30 Jul 2025</a:t>
                      </a:r>
                    </a:p>
                  </a:txBody>
                  <a:tcPr marL="95250" marR="95250" marT="57150" marB="57150" anchor="ctr"/>
                </a:tc>
                <a:tc>
                  <a:txBody>
                    <a:bodyPr/>
                    <a:lstStyle/>
                    <a:p>
                      <a:pPr>
                        <a:buNone/>
                      </a:pPr>
                      <a:r>
                        <a:rPr lang="en-TH">
                          <a:effectLst/>
                        </a:rPr>
                        <a:t>สำหรับทำ Exploratory Data Analysis และฝึกสอนโมเดล</a:t>
                      </a:r>
                    </a:p>
                  </a:txBody>
                  <a:tcPr marL="95250" marR="95250" marT="57150" marB="57150" anchor="ctr"/>
                </a:tc>
                <a:extLst>
                  <a:ext uri="{0D108BD9-81ED-4DB2-BD59-A6C34878D82A}">
                    <a16:rowId xmlns:a16="http://schemas.microsoft.com/office/drawing/2014/main" val="3498529385"/>
                  </a:ext>
                </a:extLst>
              </a:tr>
              <a:tr h="0">
                <a:tc>
                  <a:txBody>
                    <a:bodyPr/>
                    <a:lstStyle/>
                    <a:p>
                      <a:pPr>
                        <a:buNone/>
                      </a:pPr>
                      <a:r>
                        <a:rPr lang="en-TH">
                          <a:effectLst/>
                        </a:rPr>
                        <a:t>Boundary Gap</a:t>
                      </a:r>
                    </a:p>
                  </a:txBody>
                  <a:tcPr marL="95250" marR="95250" marT="57150" marB="57150" anchor="ctr"/>
                </a:tc>
                <a:tc>
                  <a:txBody>
                    <a:bodyPr/>
                    <a:lstStyle/>
                    <a:p>
                      <a:pPr>
                        <a:buNone/>
                      </a:pPr>
                      <a:r>
                        <a:rPr lang="en-TH">
                          <a:effectLst/>
                        </a:rPr>
                        <a:t>1</a:t>
                      </a:r>
                    </a:p>
                  </a:txBody>
                  <a:tcPr marL="95250" marR="95250" marT="57150" marB="57150" anchor="ctr"/>
                </a:tc>
                <a:tc>
                  <a:txBody>
                    <a:bodyPr/>
                    <a:lstStyle/>
                    <a:p>
                      <a:pPr>
                        <a:buNone/>
                      </a:pPr>
                      <a:r>
                        <a:rPr lang="en-TH">
                          <a:effectLst/>
                        </a:rPr>
                        <a:t>31 Jul 2025</a:t>
                      </a:r>
                    </a:p>
                  </a:txBody>
                  <a:tcPr marL="95250" marR="95250" marT="57150" marB="57150" anchor="ctr"/>
                </a:tc>
                <a:tc>
                  <a:txBody>
                    <a:bodyPr/>
                    <a:lstStyle/>
                    <a:p>
                      <a:pPr>
                        <a:buNone/>
                      </a:pPr>
                      <a:r>
                        <a:rPr lang="en-TH">
                          <a:effectLst/>
                        </a:rPr>
                        <a:t>เว้นระยะ 1 วันทำการ เพื่อป้องกัน Data Leakage</a:t>
                      </a:r>
                    </a:p>
                  </a:txBody>
                  <a:tcPr marL="95250" marR="95250" marT="57150" marB="57150" anchor="ctr"/>
                </a:tc>
                <a:extLst>
                  <a:ext uri="{0D108BD9-81ED-4DB2-BD59-A6C34878D82A}">
                    <a16:rowId xmlns:a16="http://schemas.microsoft.com/office/drawing/2014/main" val="821106048"/>
                  </a:ext>
                </a:extLst>
              </a:tr>
              <a:tr h="0">
                <a:tc>
                  <a:txBody>
                    <a:bodyPr/>
                    <a:lstStyle/>
                    <a:p>
                      <a:pPr>
                        <a:buNone/>
                      </a:pPr>
                      <a:r>
                        <a:rPr lang="en-TH" dirty="0">
                          <a:effectLst/>
                        </a:rPr>
                        <a:t>Final Test</a:t>
                      </a:r>
                    </a:p>
                  </a:txBody>
                  <a:tcPr marL="95250" marR="95250" marT="57150" marB="57150" anchor="ctr"/>
                </a:tc>
                <a:tc>
                  <a:txBody>
                    <a:bodyPr/>
                    <a:lstStyle/>
                    <a:p>
                      <a:pPr>
                        <a:buNone/>
                      </a:pPr>
                      <a:r>
                        <a:rPr lang="en-TH" dirty="0">
                          <a:effectLst/>
                        </a:rPr>
                        <a:t>283</a:t>
                      </a:r>
                    </a:p>
                  </a:txBody>
                  <a:tcPr marL="95250" marR="95250" marT="57150" marB="57150" anchor="ctr"/>
                </a:tc>
                <a:tc>
                  <a:txBody>
                    <a:bodyPr/>
                    <a:lstStyle/>
                    <a:p>
                      <a:pPr>
                        <a:buNone/>
                      </a:pPr>
                      <a:r>
                        <a:rPr lang="en-TH">
                          <a:effectLst/>
                        </a:rPr>
                        <a:t>1 Aug 2025 – 16 Sep 2026</a:t>
                      </a:r>
                    </a:p>
                  </a:txBody>
                  <a:tcPr marL="95250" marR="95250" marT="57150" marB="57150" anchor="ctr"/>
                </a:tc>
                <a:tc>
                  <a:txBody>
                    <a:bodyPr/>
                    <a:lstStyle/>
                    <a:p>
                      <a:pPr>
                        <a:buNone/>
                      </a:pPr>
                      <a:r>
                        <a:rPr lang="en-TH" dirty="0">
                          <a:effectLst/>
                        </a:rPr>
                        <a:t>ชุดข้อมูลที่ไม่เคยเห็นมาก่อน (Unseen) สำหรับทดสอบขั้นสุดท้าย</a:t>
                      </a:r>
                    </a:p>
                  </a:txBody>
                  <a:tcPr marL="95250" marR="95250" marT="57150" marB="57150" anchor="ctr"/>
                </a:tc>
                <a:extLst>
                  <a:ext uri="{0D108BD9-81ED-4DB2-BD59-A6C34878D82A}">
                    <a16:rowId xmlns:a16="http://schemas.microsoft.com/office/drawing/2014/main" val="607660847"/>
                  </a:ext>
                </a:extLst>
              </a:tr>
            </a:tbl>
          </a:graphicData>
        </a:graphic>
      </p:graphicFrame>
      <p:sp>
        <p:nvSpPr>
          <p:cNvPr id="21" name="TextBox 20">
            <a:extLst>
              <a:ext uri="{FF2B5EF4-FFF2-40B4-BE49-F238E27FC236}">
                <a16:creationId xmlns:a16="http://schemas.microsoft.com/office/drawing/2014/main" id="{94BA9272-7801-1C84-31E2-6860AF0679F7}"/>
              </a:ext>
            </a:extLst>
          </p:cNvPr>
          <p:cNvSpPr txBox="1"/>
          <p:nvPr/>
        </p:nvSpPr>
        <p:spPr>
          <a:xfrm>
            <a:off x="609600" y="1170938"/>
            <a:ext cx="10853394" cy="954107"/>
          </a:xfrm>
          <a:prstGeom prst="rect">
            <a:avLst/>
          </a:prstGeom>
          <a:noFill/>
        </p:spPr>
        <p:txBody>
          <a:bodyPr wrap="square" rtlCol="0">
            <a:spAutoFit/>
          </a:bodyPr>
          <a:lstStyle/>
          <a:p>
            <a:r>
              <a:rPr lang="en-TH" sz="1400" dirty="0"/>
              <a:t>ในการประเมินผลโมเดลกับข้อมูลทางการเงิน (Financial Time-Series) สิ่งสำคัญที่สุดคือการป้องกันปัญหาข้อมูลรั่วไหลจากอนาคต (Data Leakage) เราจึงออกแบบการแบ่งข้อมูลแบบตามลำดับเวลา (Chronological Split) อย่างเคร่งครัด โดยมีการเว้นระยะห่างเพื่อไม่ให้โมเดลจดจำข้อมูลข้ามวัน ดังโครงสร้างในตารางด้านล่าง </a:t>
            </a:r>
            <a:r>
              <a:rPr lang="th-TH" sz="1400" dirty="0"/>
              <a:t> </a:t>
            </a:r>
            <a:r>
              <a:rPr lang="en-TH" sz="1400" dirty="0"/>
              <a:t>ในกระบวนการฝึกสอนบนชุด Training เราได้เลือกใช้เทคนิค 5-fold TimeSeriesSplit with a 1-day gap สำหรับการทำ Cross-Validation เพื่อจำลองสถานการณ์การทำนายไปข้างหน้า (Forward-chaining) ซึ่งรับประกันได้ว่าโมเดลจะถูกประเมินประสิทธิภาพอย่างสมจริงที่สุด </a:t>
            </a:r>
          </a:p>
        </p:txBody>
      </p:sp>
      <p:pic>
        <p:nvPicPr>
          <p:cNvPr id="23" name="Picture 22">
            <a:extLst>
              <a:ext uri="{FF2B5EF4-FFF2-40B4-BE49-F238E27FC236}">
                <a16:creationId xmlns:a16="http://schemas.microsoft.com/office/drawing/2014/main" id="{B5671E7B-DE4D-2F62-7D68-A56C729383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0642" y="5035724"/>
            <a:ext cx="2022905" cy="1581893"/>
          </a:xfrm>
          <a:prstGeom prst="rect">
            <a:avLst/>
          </a:prstGeom>
        </p:spPr>
      </p:pic>
      <p:pic>
        <p:nvPicPr>
          <p:cNvPr id="25" name="Picture 24">
            <a:extLst>
              <a:ext uri="{FF2B5EF4-FFF2-40B4-BE49-F238E27FC236}">
                <a16:creationId xmlns:a16="http://schemas.microsoft.com/office/drawing/2014/main" id="{55F47044-6575-ED59-C5CF-75115F0179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5035724"/>
            <a:ext cx="5721043" cy="1581893"/>
          </a:xfrm>
          <a:prstGeom prst="rect">
            <a:avLst/>
          </a:prstGeom>
        </p:spPr>
      </p:pic>
      <p:sp>
        <p:nvSpPr>
          <p:cNvPr id="26" name="TextBox 25">
            <a:extLst>
              <a:ext uri="{FF2B5EF4-FFF2-40B4-BE49-F238E27FC236}">
                <a16:creationId xmlns:a16="http://schemas.microsoft.com/office/drawing/2014/main" id="{EDC31832-8377-C6FA-2CCF-F4C3AC3009B5}"/>
              </a:ext>
            </a:extLst>
          </p:cNvPr>
          <p:cNvSpPr txBox="1"/>
          <p:nvPr/>
        </p:nvSpPr>
        <p:spPr>
          <a:xfrm>
            <a:off x="8392999" y="5094362"/>
            <a:ext cx="2884601" cy="1384995"/>
          </a:xfrm>
          <a:prstGeom prst="rect">
            <a:avLst/>
          </a:prstGeom>
          <a:noFill/>
        </p:spPr>
        <p:txBody>
          <a:bodyPr wrap="square" rtlCol="0">
            <a:spAutoFit/>
          </a:bodyPr>
          <a:lstStyle/>
          <a:p>
            <a:r>
              <a:rPr lang="en-TH" sz="1400" dirty="0"/>
              <a:t>สถิตินี้นำไปสู่ข้อค้นพบที่สำคัญว่า</a:t>
            </a:r>
            <a:endParaRPr lang="th-TH" sz="1400" dirty="0"/>
          </a:p>
          <a:p>
            <a:r>
              <a:rPr lang="en-TH" sz="1400" dirty="0"/>
              <a:t>Raw accuracy alone can be misleading.</a:t>
            </a:r>
            <a:r>
              <a:rPr lang="th-TH" sz="1400" dirty="0"/>
              <a:t> </a:t>
            </a:r>
            <a:r>
              <a:rPr lang="en-TH" sz="1400" dirty="0"/>
              <a:t>หากเราสร้างโมเดลพื้นฐาน (Majority Baseline) ที่ไม่มีตรรกะใดๆ นอกจากการทำนายว่าตลาดจะ</a:t>
            </a:r>
            <a:r>
              <a:rPr lang="th-TH" sz="1400" dirty="0"/>
              <a:t> </a:t>
            </a:r>
            <a:r>
              <a:rPr lang="en-TH" sz="1400" dirty="0"/>
              <a:t>Up</a:t>
            </a:r>
            <a:r>
              <a:rPr lang="th-TH" sz="1400" dirty="0"/>
              <a:t> </a:t>
            </a:r>
            <a:r>
              <a:rPr lang="en-TH" sz="1400" dirty="0"/>
              <a:t>ทุกวัน โมเดลนั้นจะได้รับค่าความแม่นยำตั้งต้นสูงถึง 54.4% ทันที </a:t>
            </a:r>
          </a:p>
        </p:txBody>
      </p:sp>
    </p:spTree>
    <p:extLst>
      <p:ext uri="{BB962C8B-B14F-4D97-AF65-F5344CB8AC3E}">
        <p14:creationId xmlns:p14="http://schemas.microsoft.com/office/powerpoint/2010/main" val="157389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179CD-F529-3321-0387-586B2B8A374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D1370D8-2238-5511-BA9F-979E6DD80F9A}"/>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Machine Learning Models</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EB392B17-5D6B-E31D-EE94-09FC1D6851F8}"/>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E1E7AFE7-2E4C-0C50-A58B-709B1A37DC0A}"/>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graphicFrame>
        <p:nvGraphicFramePr>
          <p:cNvPr id="20" name="Table 19">
            <a:extLst>
              <a:ext uri="{FF2B5EF4-FFF2-40B4-BE49-F238E27FC236}">
                <a16:creationId xmlns:a16="http://schemas.microsoft.com/office/drawing/2014/main" id="{37666C99-376F-E57D-E3B9-508F6274952C}"/>
              </a:ext>
            </a:extLst>
          </p:cNvPr>
          <p:cNvGraphicFramePr>
            <a:graphicFrameLocks noGrp="1"/>
          </p:cNvGraphicFramePr>
          <p:nvPr>
            <p:extLst>
              <p:ext uri="{D42A27DB-BD31-4B8C-83A1-F6EECF244321}">
                <p14:modId xmlns:p14="http://schemas.microsoft.com/office/powerpoint/2010/main" val="1332881525"/>
              </p:ext>
            </p:extLst>
          </p:nvPr>
        </p:nvGraphicFramePr>
        <p:xfrm>
          <a:off x="609600" y="1331715"/>
          <a:ext cx="10972800" cy="4404120"/>
        </p:xfrm>
        <a:graphic>
          <a:graphicData uri="http://schemas.openxmlformats.org/drawingml/2006/table">
            <a:tbl>
              <a:tblPr>
                <a:tableStyleId>{5C22544A-7EE6-4342-B048-85BDC9FD1C3A}</a:tableStyleId>
              </a:tblPr>
              <a:tblGrid>
                <a:gridCol w="5486400">
                  <a:extLst>
                    <a:ext uri="{9D8B030D-6E8A-4147-A177-3AD203B41FA5}">
                      <a16:colId xmlns:a16="http://schemas.microsoft.com/office/drawing/2014/main" val="3286077434"/>
                    </a:ext>
                  </a:extLst>
                </a:gridCol>
                <a:gridCol w="5486400">
                  <a:extLst>
                    <a:ext uri="{9D8B030D-6E8A-4147-A177-3AD203B41FA5}">
                      <a16:colId xmlns:a16="http://schemas.microsoft.com/office/drawing/2014/main" val="1077227883"/>
                    </a:ext>
                  </a:extLst>
                </a:gridCol>
              </a:tblGrid>
              <a:tr h="383278">
                <a:tc>
                  <a:txBody>
                    <a:bodyPr/>
                    <a:lstStyle/>
                    <a:p>
                      <a:pPr>
                        <a:buNone/>
                      </a:pPr>
                      <a:r>
                        <a:rPr lang="en-TH" sz="1800">
                          <a:effectLst/>
                        </a:rPr>
                        <a:t>Model</a:t>
                      </a:r>
                      <a:endParaRPr lang="en-TH" sz="1800" b="1">
                        <a:effectLst/>
                      </a:endParaRPr>
                    </a:p>
                  </a:txBody>
                  <a:tcPr marL="93941" marR="93941" marT="56364" marB="56364" anchor="ctr"/>
                </a:tc>
                <a:tc>
                  <a:txBody>
                    <a:bodyPr/>
                    <a:lstStyle/>
                    <a:p>
                      <a:pPr>
                        <a:buNone/>
                      </a:pPr>
                      <a:r>
                        <a:rPr lang="en-TH" sz="1800">
                          <a:effectLst/>
                        </a:rPr>
                        <a:t>Description</a:t>
                      </a:r>
                      <a:endParaRPr lang="en-TH" sz="1800" b="1">
                        <a:effectLst/>
                      </a:endParaRPr>
                    </a:p>
                  </a:txBody>
                  <a:tcPr marL="93941" marR="93941" marT="56364" marB="56364" anchor="ctr"/>
                </a:tc>
                <a:extLst>
                  <a:ext uri="{0D108BD9-81ED-4DB2-BD59-A6C34878D82A}">
                    <a16:rowId xmlns:a16="http://schemas.microsoft.com/office/drawing/2014/main" val="262618721"/>
                  </a:ext>
                </a:extLst>
              </a:tr>
              <a:tr h="1194927">
                <a:tc>
                  <a:txBody>
                    <a:bodyPr/>
                    <a:lstStyle/>
                    <a:p>
                      <a:pPr>
                        <a:buNone/>
                      </a:pPr>
                      <a:r>
                        <a:rPr lang="en-TH" sz="1800">
                          <a:effectLst/>
                        </a:rPr>
                        <a:t>Majority Baseline</a:t>
                      </a:r>
                    </a:p>
                  </a:txBody>
                  <a:tcPr marL="93941" marR="93941" marT="56364" marB="56364" anchor="ctr"/>
                </a:tc>
                <a:tc>
                  <a:txBody>
                    <a:bodyPr/>
                    <a:lstStyle/>
                    <a:p>
                      <a:pPr>
                        <a:buNone/>
                      </a:pPr>
                      <a:r>
                        <a:rPr lang="en-TH" sz="1800">
                          <a:effectLst/>
                        </a:rPr>
                        <a:t>A naive benchmark that strictly predicts the most frequent class ("Up") every day. It tests whether machine learning models can genuinely outperform a simple guessing strategy.</a:t>
                      </a:r>
                    </a:p>
                  </a:txBody>
                  <a:tcPr marL="93941" marR="93941" marT="56364" marB="56364" anchor="ctr"/>
                </a:tc>
                <a:extLst>
                  <a:ext uri="{0D108BD9-81ED-4DB2-BD59-A6C34878D82A}">
                    <a16:rowId xmlns:a16="http://schemas.microsoft.com/office/drawing/2014/main" val="499859592"/>
                  </a:ext>
                </a:extLst>
              </a:tr>
              <a:tr h="924377">
                <a:tc>
                  <a:txBody>
                    <a:bodyPr/>
                    <a:lstStyle/>
                    <a:p>
                      <a:pPr>
                        <a:buNone/>
                      </a:pPr>
                      <a:r>
                        <a:rPr lang="en-TH" sz="1800">
                          <a:effectLst/>
                        </a:rPr>
                        <a:t>Logistic Regression</a:t>
                      </a:r>
                    </a:p>
                  </a:txBody>
                  <a:tcPr marL="93941" marR="93941" marT="56364" marB="56364" anchor="ctr"/>
                </a:tc>
                <a:tc>
                  <a:txBody>
                    <a:bodyPr/>
                    <a:lstStyle/>
                    <a:p>
                      <a:pPr>
                        <a:buNone/>
                      </a:pPr>
                      <a:r>
                        <a:rPr lang="en-TH" sz="1800" dirty="0">
                          <a:effectLst/>
                        </a:rPr>
                        <a:t>A traditional linear classification benchmark used to test if simple linear relationships exist within the technical indicators.</a:t>
                      </a:r>
                    </a:p>
                  </a:txBody>
                  <a:tcPr marL="93941" marR="93941" marT="56364" marB="56364" anchor="ctr"/>
                </a:tc>
                <a:extLst>
                  <a:ext uri="{0D108BD9-81ED-4DB2-BD59-A6C34878D82A}">
                    <a16:rowId xmlns:a16="http://schemas.microsoft.com/office/drawing/2014/main" val="3047652952"/>
                  </a:ext>
                </a:extLst>
              </a:tr>
              <a:tr h="924377">
                <a:tc>
                  <a:txBody>
                    <a:bodyPr/>
                    <a:lstStyle/>
                    <a:p>
                      <a:pPr>
                        <a:buNone/>
                      </a:pPr>
                      <a:r>
                        <a:rPr lang="en-TH" sz="1800">
                          <a:effectLst/>
                        </a:rPr>
                        <a:t>Random Forest</a:t>
                      </a:r>
                    </a:p>
                  </a:txBody>
                  <a:tcPr marL="93941" marR="93941" marT="56364" marB="56364" anchor="ctr"/>
                </a:tc>
                <a:tc>
                  <a:txBody>
                    <a:bodyPr/>
                    <a:lstStyle/>
                    <a:p>
                      <a:pPr>
                        <a:buNone/>
                      </a:pPr>
                      <a:r>
                        <a:rPr lang="en-TH" sz="1800">
                          <a:effectLst/>
                        </a:rPr>
                        <a:t>An ensemble of independent decision trees that reduces variance and handles non-linearities without extensive hyperparameter tuning.</a:t>
                      </a:r>
                    </a:p>
                  </a:txBody>
                  <a:tcPr marL="93941" marR="93941" marT="56364" marB="56364" anchor="ctr"/>
                </a:tc>
                <a:extLst>
                  <a:ext uri="{0D108BD9-81ED-4DB2-BD59-A6C34878D82A}">
                    <a16:rowId xmlns:a16="http://schemas.microsoft.com/office/drawing/2014/main" val="673851637"/>
                  </a:ext>
                </a:extLst>
              </a:tr>
              <a:tr h="924377">
                <a:tc>
                  <a:txBody>
                    <a:bodyPr/>
                    <a:lstStyle/>
                    <a:p>
                      <a:pPr>
                        <a:buNone/>
                      </a:pPr>
                      <a:r>
                        <a:rPr lang="en-TH" sz="1800">
                          <a:effectLst/>
                        </a:rPr>
                        <a:t>Histogram Gradient Boosting</a:t>
                      </a:r>
                    </a:p>
                  </a:txBody>
                  <a:tcPr marL="93941" marR="93941" marT="56364" marB="56364" anchor="ctr"/>
                </a:tc>
                <a:tc>
                  <a:txBody>
                    <a:bodyPr/>
                    <a:lstStyle/>
                    <a:p>
                      <a:pPr>
                        <a:buNone/>
                      </a:pPr>
                      <a:r>
                        <a:rPr lang="en-TH" sz="1800" dirty="0">
                          <a:effectLst/>
                        </a:rPr>
                        <a:t>An advanced, sequential tree-based model capable of learning highly complex, nonlinear market patterns by correcting the errors of previous trees.</a:t>
                      </a:r>
                    </a:p>
                  </a:txBody>
                  <a:tcPr marL="93941" marR="93941" marT="56364" marB="56364" anchor="ctr"/>
                </a:tc>
                <a:extLst>
                  <a:ext uri="{0D108BD9-81ED-4DB2-BD59-A6C34878D82A}">
                    <a16:rowId xmlns:a16="http://schemas.microsoft.com/office/drawing/2014/main" val="2067321387"/>
                  </a:ext>
                </a:extLst>
              </a:tr>
            </a:tbl>
          </a:graphicData>
        </a:graphic>
      </p:graphicFrame>
    </p:spTree>
    <p:extLst>
      <p:ext uri="{BB962C8B-B14F-4D97-AF65-F5344CB8AC3E}">
        <p14:creationId xmlns:p14="http://schemas.microsoft.com/office/powerpoint/2010/main" val="3646777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DE459-9441-DFD1-1F2D-AB8F577F0E06}"/>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D115651-DFD9-CEE7-F2C4-9842F45A8B18}"/>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Evaluation Metrics &amp; Model Results</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D80D1116-0BE5-F6E0-DC63-CF58DE25735D}"/>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2BE1C082-F266-E975-D643-E77C1BE0FCA5}"/>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pic>
        <p:nvPicPr>
          <p:cNvPr id="21" name="Picture 20">
            <a:extLst>
              <a:ext uri="{FF2B5EF4-FFF2-40B4-BE49-F238E27FC236}">
                <a16:creationId xmlns:a16="http://schemas.microsoft.com/office/drawing/2014/main" id="{797545D0-D577-D00F-FC3D-BDD52B149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990" y="1095375"/>
            <a:ext cx="4731349" cy="4786364"/>
          </a:xfrm>
          <a:prstGeom prst="rect">
            <a:avLst/>
          </a:prstGeom>
        </p:spPr>
      </p:pic>
      <p:graphicFrame>
        <p:nvGraphicFramePr>
          <p:cNvPr id="22" name="Table 21">
            <a:extLst>
              <a:ext uri="{FF2B5EF4-FFF2-40B4-BE49-F238E27FC236}">
                <a16:creationId xmlns:a16="http://schemas.microsoft.com/office/drawing/2014/main" id="{7C96515D-8A0A-201A-1D12-8D4052BB56F5}"/>
              </a:ext>
            </a:extLst>
          </p:cNvPr>
          <p:cNvGraphicFramePr>
            <a:graphicFrameLocks noGrp="1"/>
          </p:cNvGraphicFramePr>
          <p:nvPr>
            <p:extLst>
              <p:ext uri="{D42A27DB-BD31-4B8C-83A1-F6EECF244321}">
                <p14:modId xmlns:p14="http://schemas.microsoft.com/office/powerpoint/2010/main" val="2028068733"/>
              </p:ext>
            </p:extLst>
          </p:nvPr>
        </p:nvGraphicFramePr>
        <p:xfrm>
          <a:off x="5355904" y="1364793"/>
          <a:ext cx="6226496" cy="1400890"/>
        </p:xfrm>
        <a:graphic>
          <a:graphicData uri="http://schemas.openxmlformats.org/drawingml/2006/table">
            <a:tbl>
              <a:tblPr>
                <a:tableStyleId>{5C22544A-7EE6-4342-B048-85BDC9FD1C3A}</a:tableStyleId>
              </a:tblPr>
              <a:tblGrid>
                <a:gridCol w="1556624">
                  <a:extLst>
                    <a:ext uri="{9D8B030D-6E8A-4147-A177-3AD203B41FA5}">
                      <a16:colId xmlns:a16="http://schemas.microsoft.com/office/drawing/2014/main" val="2376048168"/>
                    </a:ext>
                  </a:extLst>
                </a:gridCol>
                <a:gridCol w="1556624">
                  <a:extLst>
                    <a:ext uri="{9D8B030D-6E8A-4147-A177-3AD203B41FA5}">
                      <a16:colId xmlns:a16="http://schemas.microsoft.com/office/drawing/2014/main" val="2317202272"/>
                    </a:ext>
                  </a:extLst>
                </a:gridCol>
                <a:gridCol w="1556624">
                  <a:extLst>
                    <a:ext uri="{9D8B030D-6E8A-4147-A177-3AD203B41FA5}">
                      <a16:colId xmlns:a16="http://schemas.microsoft.com/office/drawing/2014/main" val="3420400442"/>
                    </a:ext>
                  </a:extLst>
                </a:gridCol>
                <a:gridCol w="1556624">
                  <a:extLst>
                    <a:ext uri="{9D8B030D-6E8A-4147-A177-3AD203B41FA5}">
                      <a16:colId xmlns:a16="http://schemas.microsoft.com/office/drawing/2014/main" val="3274439790"/>
                    </a:ext>
                  </a:extLst>
                </a:gridCol>
              </a:tblGrid>
              <a:tr h="274981">
                <a:tc>
                  <a:txBody>
                    <a:bodyPr/>
                    <a:lstStyle/>
                    <a:p>
                      <a:pPr>
                        <a:buNone/>
                      </a:pPr>
                      <a:r>
                        <a:rPr lang="en-TH" sz="1400"/>
                        <a:t>Model</a:t>
                      </a:r>
                    </a:p>
                  </a:txBody>
                  <a:tcPr marL="66819" marR="66819" marT="33409" marB="33409" anchor="ctr"/>
                </a:tc>
                <a:tc>
                  <a:txBody>
                    <a:bodyPr/>
                    <a:lstStyle/>
                    <a:p>
                      <a:pPr>
                        <a:buNone/>
                      </a:pPr>
                      <a:r>
                        <a:rPr lang="en-TH" sz="1400"/>
                        <a:t>Accuracy</a:t>
                      </a:r>
                    </a:p>
                  </a:txBody>
                  <a:tcPr marL="66819" marR="66819" marT="33409" marB="33409" anchor="ctr"/>
                </a:tc>
                <a:tc>
                  <a:txBody>
                    <a:bodyPr/>
                    <a:lstStyle/>
                    <a:p>
                      <a:pPr>
                        <a:buNone/>
                      </a:pPr>
                      <a:r>
                        <a:rPr lang="en-TH" sz="1400"/>
                        <a:t>Balanced Accuracy</a:t>
                      </a:r>
                    </a:p>
                  </a:txBody>
                  <a:tcPr marL="66819" marR="66819" marT="33409" marB="33409" anchor="ctr"/>
                </a:tc>
                <a:tc>
                  <a:txBody>
                    <a:bodyPr/>
                    <a:lstStyle/>
                    <a:p>
                      <a:pPr>
                        <a:buNone/>
                      </a:pPr>
                      <a:r>
                        <a:rPr lang="en-TH" sz="1400"/>
                        <a:t>ROC AUC</a:t>
                      </a:r>
                    </a:p>
                  </a:txBody>
                  <a:tcPr marL="66819" marR="66819" marT="33409" marB="33409" anchor="ctr"/>
                </a:tc>
                <a:extLst>
                  <a:ext uri="{0D108BD9-81ED-4DB2-BD59-A6C34878D82A}">
                    <a16:rowId xmlns:a16="http://schemas.microsoft.com/office/drawing/2014/main" val="900672437"/>
                  </a:ext>
                </a:extLst>
              </a:tr>
              <a:tr h="274981">
                <a:tc>
                  <a:txBody>
                    <a:bodyPr/>
                    <a:lstStyle/>
                    <a:p>
                      <a:pPr>
                        <a:buNone/>
                      </a:pPr>
                      <a:r>
                        <a:rPr lang="en-TH" sz="1400"/>
                        <a:t>Majority Baseline</a:t>
                      </a:r>
                    </a:p>
                  </a:txBody>
                  <a:tcPr marL="66819" marR="66819" marT="33409" marB="33409" anchor="ctr"/>
                </a:tc>
                <a:tc>
                  <a:txBody>
                    <a:bodyPr/>
                    <a:lstStyle/>
                    <a:p>
                      <a:pPr>
                        <a:buNone/>
                      </a:pPr>
                      <a:r>
                        <a:rPr lang="en-TH" sz="1400" dirty="0"/>
                        <a:t>54.77%</a:t>
                      </a:r>
                    </a:p>
                  </a:txBody>
                  <a:tcPr marL="66819" marR="66819" marT="33409" marB="33409" anchor="ctr"/>
                </a:tc>
                <a:tc>
                  <a:txBody>
                    <a:bodyPr/>
                    <a:lstStyle/>
                    <a:p>
                      <a:pPr>
                        <a:buNone/>
                      </a:pPr>
                      <a:r>
                        <a:rPr lang="en-TH" sz="1400" dirty="0"/>
                        <a:t>50.00%</a:t>
                      </a:r>
                    </a:p>
                  </a:txBody>
                  <a:tcPr marL="66819" marR="66819" marT="33409" marB="33409" anchor="ctr"/>
                </a:tc>
                <a:tc>
                  <a:txBody>
                    <a:bodyPr/>
                    <a:lstStyle/>
                    <a:p>
                      <a:pPr>
                        <a:buNone/>
                      </a:pPr>
                      <a:r>
                        <a:rPr lang="en-TH" sz="1400"/>
                        <a:t>0.500</a:t>
                      </a:r>
                    </a:p>
                  </a:txBody>
                  <a:tcPr marL="66819" marR="66819" marT="33409" marB="33409" anchor="ctr"/>
                </a:tc>
                <a:extLst>
                  <a:ext uri="{0D108BD9-81ED-4DB2-BD59-A6C34878D82A}">
                    <a16:rowId xmlns:a16="http://schemas.microsoft.com/office/drawing/2014/main" val="2105304221"/>
                  </a:ext>
                </a:extLst>
              </a:tr>
              <a:tr h="274981">
                <a:tc>
                  <a:txBody>
                    <a:bodyPr/>
                    <a:lstStyle/>
                    <a:p>
                      <a:pPr>
                        <a:buNone/>
                      </a:pPr>
                      <a:r>
                        <a:rPr lang="en-TH" sz="1400" dirty="0"/>
                        <a:t>Logistic Regression</a:t>
                      </a:r>
                    </a:p>
                  </a:txBody>
                  <a:tcPr marL="66819" marR="66819" marT="33409" marB="33409" anchor="ctr"/>
                </a:tc>
                <a:tc>
                  <a:txBody>
                    <a:bodyPr/>
                    <a:lstStyle/>
                    <a:p>
                      <a:pPr>
                        <a:buNone/>
                      </a:pPr>
                      <a:r>
                        <a:rPr lang="en-TH" sz="1400"/>
                        <a:t>50.88%</a:t>
                      </a:r>
                    </a:p>
                  </a:txBody>
                  <a:tcPr marL="66819" marR="66819" marT="33409" marB="33409" anchor="ctr"/>
                </a:tc>
                <a:tc>
                  <a:txBody>
                    <a:bodyPr/>
                    <a:lstStyle/>
                    <a:p>
                      <a:pPr>
                        <a:buNone/>
                      </a:pPr>
                      <a:r>
                        <a:rPr lang="en-TH" sz="1400" dirty="0"/>
                        <a:t>50.06%</a:t>
                      </a:r>
                    </a:p>
                  </a:txBody>
                  <a:tcPr marL="66819" marR="66819" marT="33409" marB="33409" anchor="ctr"/>
                </a:tc>
                <a:tc>
                  <a:txBody>
                    <a:bodyPr/>
                    <a:lstStyle/>
                    <a:p>
                      <a:pPr>
                        <a:buNone/>
                      </a:pPr>
                      <a:r>
                        <a:rPr lang="en-TH" sz="1400" dirty="0"/>
                        <a:t>0.481</a:t>
                      </a:r>
                    </a:p>
                  </a:txBody>
                  <a:tcPr marL="66819" marR="66819" marT="33409" marB="33409" anchor="ctr"/>
                </a:tc>
                <a:extLst>
                  <a:ext uri="{0D108BD9-81ED-4DB2-BD59-A6C34878D82A}">
                    <a16:rowId xmlns:a16="http://schemas.microsoft.com/office/drawing/2014/main" val="83498648"/>
                  </a:ext>
                </a:extLst>
              </a:tr>
              <a:tr h="274981">
                <a:tc>
                  <a:txBody>
                    <a:bodyPr/>
                    <a:lstStyle/>
                    <a:p>
                      <a:pPr>
                        <a:buNone/>
                      </a:pPr>
                      <a:r>
                        <a:rPr lang="en-TH" sz="1400"/>
                        <a:t>Random Forest</a:t>
                      </a:r>
                    </a:p>
                  </a:txBody>
                  <a:tcPr marL="66819" marR="66819" marT="33409" marB="33409" anchor="ctr"/>
                </a:tc>
                <a:tc>
                  <a:txBody>
                    <a:bodyPr/>
                    <a:lstStyle/>
                    <a:p>
                      <a:pPr>
                        <a:buNone/>
                      </a:pPr>
                      <a:r>
                        <a:rPr lang="en-TH" sz="1400"/>
                        <a:t>51.59%</a:t>
                      </a:r>
                    </a:p>
                  </a:txBody>
                  <a:tcPr marL="66819" marR="66819" marT="33409" marB="33409" anchor="ctr"/>
                </a:tc>
                <a:tc>
                  <a:txBody>
                    <a:bodyPr/>
                    <a:lstStyle/>
                    <a:p>
                      <a:pPr>
                        <a:buNone/>
                      </a:pPr>
                      <a:r>
                        <a:rPr lang="en-TH" sz="1400" dirty="0"/>
                        <a:t>50.98%</a:t>
                      </a:r>
                    </a:p>
                  </a:txBody>
                  <a:tcPr marL="66819" marR="66819" marT="33409" marB="33409" anchor="ctr"/>
                </a:tc>
                <a:tc>
                  <a:txBody>
                    <a:bodyPr/>
                    <a:lstStyle/>
                    <a:p>
                      <a:pPr>
                        <a:buNone/>
                      </a:pPr>
                      <a:r>
                        <a:rPr lang="en-TH" sz="1400" dirty="0"/>
                        <a:t>0.503</a:t>
                      </a:r>
                    </a:p>
                  </a:txBody>
                  <a:tcPr marL="66819" marR="66819" marT="33409" marB="33409" anchor="ctr"/>
                </a:tc>
                <a:extLst>
                  <a:ext uri="{0D108BD9-81ED-4DB2-BD59-A6C34878D82A}">
                    <a16:rowId xmlns:a16="http://schemas.microsoft.com/office/drawing/2014/main" val="2538853169"/>
                  </a:ext>
                </a:extLst>
              </a:tr>
              <a:tr h="274981">
                <a:tc>
                  <a:txBody>
                    <a:bodyPr/>
                    <a:lstStyle/>
                    <a:p>
                      <a:pPr>
                        <a:buNone/>
                      </a:pPr>
                      <a:r>
                        <a:rPr lang="en-TH" sz="1400"/>
                        <a:t>Gradient Boosting</a:t>
                      </a:r>
                    </a:p>
                  </a:txBody>
                  <a:tcPr marL="66819" marR="66819" marT="33409" marB="33409" anchor="ctr"/>
                </a:tc>
                <a:tc>
                  <a:txBody>
                    <a:bodyPr/>
                    <a:lstStyle/>
                    <a:p>
                      <a:pPr>
                        <a:buNone/>
                      </a:pPr>
                      <a:r>
                        <a:rPr lang="en-TH" sz="1400"/>
                        <a:t>53.00%</a:t>
                      </a:r>
                    </a:p>
                  </a:txBody>
                  <a:tcPr marL="66819" marR="66819" marT="33409" marB="33409" anchor="ctr"/>
                </a:tc>
                <a:tc>
                  <a:txBody>
                    <a:bodyPr/>
                    <a:lstStyle/>
                    <a:p>
                      <a:pPr>
                        <a:buNone/>
                      </a:pPr>
                      <a:r>
                        <a:rPr lang="en-TH" sz="1400"/>
                        <a:t>52.74%</a:t>
                      </a:r>
                    </a:p>
                  </a:txBody>
                  <a:tcPr marL="66819" marR="66819" marT="33409" marB="33409" anchor="ctr"/>
                </a:tc>
                <a:tc>
                  <a:txBody>
                    <a:bodyPr/>
                    <a:lstStyle/>
                    <a:p>
                      <a:pPr>
                        <a:buNone/>
                      </a:pPr>
                      <a:r>
                        <a:rPr lang="en-TH" sz="1400" dirty="0"/>
                        <a:t>0.527</a:t>
                      </a:r>
                    </a:p>
                  </a:txBody>
                  <a:tcPr marL="66819" marR="66819" marT="33409" marB="33409" anchor="ctr"/>
                </a:tc>
                <a:extLst>
                  <a:ext uri="{0D108BD9-81ED-4DB2-BD59-A6C34878D82A}">
                    <a16:rowId xmlns:a16="http://schemas.microsoft.com/office/drawing/2014/main" val="1357040207"/>
                  </a:ext>
                </a:extLst>
              </a:tr>
            </a:tbl>
          </a:graphicData>
        </a:graphic>
      </p:graphicFrame>
      <p:sp>
        <p:nvSpPr>
          <p:cNvPr id="23" name="TextBox 22">
            <a:extLst>
              <a:ext uri="{FF2B5EF4-FFF2-40B4-BE49-F238E27FC236}">
                <a16:creationId xmlns:a16="http://schemas.microsoft.com/office/drawing/2014/main" id="{69855B35-A978-3C1A-7923-D8BFB9685AC2}"/>
              </a:ext>
            </a:extLst>
          </p:cNvPr>
          <p:cNvSpPr txBox="1"/>
          <p:nvPr/>
        </p:nvSpPr>
        <p:spPr>
          <a:xfrm>
            <a:off x="5355904" y="3278171"/>
            <a:ext cx="6226497" cy="1446550"/>
          </a:xfrm>
          <a:prstGeom prst="rect">
            <a:avLst/>
          </a:prstGeom>
          <a:noFill/>
        </p:spPr>
        <p:txBody>
          <a:bodyPr wrap="square" rtlCol="0">
            <a:spAutoFit/>
          </a:bodyPr>
          <a:lstStyle/>
          <a:p>
            <a:r>
              <a:rPr lang="en-TH" sz="1400" dirty="0"/>
              <a:t>Gradient Boosting produced the strongest discrimination among the tested ML models. </a:t>
            </a:r>
          </a:p>
          <a:p>
            <a:endParaRPr lang="en-TH" sz="1400" dirty="0"/>
          </a:p>
          <a:p>
            <a:r>
              <a:rPr lang="en-TH" sz="1400" dirty="0"/>
              <a:t>ROC AUC = 0.527 represents only a small improvement over random classification (0.50)</a:t>
            </a:r>
            <a:r>
              <a:rPr lang="th-TH" sz="1400" dirty="0"/>
              <a:t> </a:t>
            </a:r>
            <a:r>
              <a:rPr lang="en-TH" dirty="0"/>
              <a:t>เส้นสีเขียวสามารถโค้งหนีเส้นประขึ้นไปด้านบนได้ชัดเจนที่สุด ทำให้ได้คะแนนสูงสุดที่</a:t>
            </a:r>
          </a:p>
          <a:p>
            <a:endParaRPr lang="en-TH" sz="1400" dirty="0"/>
          </a:p>
        </p:txBody>
      </p:sp>
    </p:spTree>
    <p:extLst>
      <p:ext uri="{BB962C8B-B14F-4D97-AF65-F5344CB8AC3E}">
        <p14:creationId xmlns:p14="http://schemas.microsoft.com/office/powerpoint/2010/main" val="2450716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29EF-FC3D-FC66-4260-27B4AE7BE090}"/>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F8846BC9-C7A0-3E62-0B88-9659DF169C9D}"/>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Evaluation Metrics &amp; Model Results</a:t>
            </a:r>
            <a:r>
              <a:rPr lang="th-TH" sz="2550" b="1" dirty="0">
                <a:solidFill>
                  <a:srgbClr val="16324F"/>
                </a:solidFill>
                <a:latin typeface="Helvetica Neue"/>
              </a:rPr>
              <a:t> </a:t>
            </a:r>
            <a:r>
              <a:rPr lang="en-US" sz="2550" b="1" dirty="0">
                <a:solidFill>
                  <a:srgbClr val="16324F"/>
                </a:solidFill>
                <a:latin typeface="Helvetica Neue"/>
              </a:rPr>
              <a:t>: </a:t>
            </a:r>
            <a:r>
              <a:rPr lang="en-TH" sz="2550" b="1" dirty="0">
                <a:solidFill>
                  <a:srgbClr val="16324F"/>
                </a:solidFill>
                <a:latin typeface="Helvetica Neue"/>
              </a:rPr>
              <a:t>Confusion Matrix </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DEEB3DAD-185B-8282-F4A4-7FE1CEA2B4FE}"/>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533AFC46-A972-277A-9030-FEF6584C217B}"/>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pic>
        <p:nvPicPr>
          <p:cNvPr id="5" name="Picture 4">
            <a:extLst>
              <a:ext uri="{FF2B5EF4-FFF2-40B4-BE49-F238E27FC236}">
                <a16:creationId xmlns:a16="http://schemas.microsoft.com/office/drawing/2014/main" id="{5C79CC30-5F08-0137-A402-145C7559C4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247775"/>
            <a:ext cx="5885414" cy="4644272"/>
          </a:xfrm>
          <a:prstGeom prst="rect">
            <a:avLst/>
          </a:prstGeom>
        </p:spPr>
      </p:pic>
      <p:sp>
        <p:nvSpPr>
          <p:cNvPr id="6" name="TextBox 5">
            <a:extLst>
              <a:ext uri="{FF2B5EF4-FFF2-40B4-BE49-F238E27FC236}">
                <a16:creationId xmlns:a16="http://schemas.microsoft.com/office/drawing/2014/main" id="{6B520160-1942-648B-8220-C52D7650ED00}"/>
              </a:ext>
            </a:extLst>
          </p:cNvPr>
          <p:cNvSpPr txBox="1"/>
          <p:nvPr/>
        </p:nvSpPr>
        <p:spPr>
          <a:xfrm>
            <a:off x="6881568" y="1800196"/>
            <a:ext cx="4062952" cy="3539430"/>
          </a:xfrm>
          <a:prstGeom prst="rect">
            <a:avLst/>
          </a:prstGeom>
          <a:noFill/>
        </p:spPr>
        <p:txBody>
          <a:bodyPr wrap="square" rtlCol="0">
            <a:spAutoFit/>
          </a:bodyPr>
          <a:lstStyle/>
          <a:p>
            <a:r>
              <a:rPr lang="en-TH" sz="1400" dirty="0"/>
              <a:t>True Positive (86 days): The model predicted "Up", and the market actually went "Up". (Correct prediction!)</a:t>
            </a:r>
          </a:p>
          <a:p>
            <a:endParaRPr lang="th-TH" sz="1400" dirty="0"/>
          </a:p>
          <a:p>
            <a:r>
              <a:rPr lang="en-TH" sz="1400" dirty="0"/>
              <a:t>True Negative (64 days): The model predicted "Down", and the market actually went "Down". (Correct prediction!)</a:t>
            </a:r>
          </a:p>
          <a:p>
            <a:endParaRPr lang="th-TH" sz="1400" dirty="0"/>
          </a:p>
          <a:p>
            <a:r>
              <a:rPr lang="en-TH" sz="1400" dirty="0"/>
              <a:t>False Positive (64 days): The model predicted "Up", but the market went "Down". (Wrong prediction - The model was too optimistic)</a:t>
            </a:r>
          </a:p>
          <a:p>
            <a:endParaRPr lang="th-TH" sz="1400" dirty="0"/>
          </a:p>
          <a:p>
            <a:r>
              <a:rPr lang="en-TH" sz="1400" dirty="0"/>
              <a:t>False Negative (69 days): The model predicted "Down", but the market went "Up". (Wrong prediction - The model was too pessimistic)</a:t>
            </a:r>
          </a:p>
          <a:p>
            <a:endParaRPr lang="en-TH" sz="1400" dirty="0"/>
          </a:p>
        </p:txBody>
      </p:sp>
      <p:sp>
        <p:nvSpPr>
          <p:cNvPr id="7" name="TextBox 6">
            <a:extLst>
              <a:ext uri="{FF2B5EF4-FFF2-40B4-BE49-F238E27FC236}">
                <a16:creationId xmlns:a16="http://schemas.microsoft.com/office/drawing/2014/main" id="{CDE98602-FD3E-BFA1-BA85-982E9DFD6CAC}"/>
              </a:ext>
            </a:extLst>
          </p:cNvPr>
          <p:cNvSpPr txBox="1"/>
          <p:nvPr/>
        </p:nvSpPr>
        <p:spPr>
          <a:xfrm>
            <a:off x="6495014" y="5522715"/>
            <a:ext cx="5087386" cy="738664"/>
          </a:xfrm>
          <a:prstGeom prst="rect">
            <a:avLst/>
          </a:prstGeom>
          <a:noFill/>
        </p:spPr>
        <p:txBody>
          <a:bodyPr wrap="square" rtlCol="0">
            <a:spAutoFit/>
          </a:bodyPr>
          <a:lstStyle/>
          <a:p>
            <a:r>
              <a:rPr lang="en-US" sz="1400" dirty="0"/>
              <a:t>This table proves that our Gradient Boosting model has true predictive skill. It does not just blindly guess "Up" every day. It successfully identified 64 "Down" days and 86 "Up" days.</a:t>
            </a:r>
            <a:endParaRPr lang="en-TH" sz="1400" dirty="0"/>
          </a:p>
        </p:txBody>
      </p:sp>
    </p:spTree>
    <p:extLst>
      <p:ext uri="{BB962C8B-B14F-4D97-AF65-F5344CB8AC3E}">
        <p14:creationId xmlns:p14="http://schemas.microsoft.com/office/powerpoint/2010/main" val="56963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47DA69B-5C9E-4814-97BF-F733C8554638}"/>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TH" sz="2550" b="1" dirty="0">
                <a:solidFill>
                  <a:srgbClr val="16324F"/>
                </a:solidFill>
                <a:latin typeface="Helvetica Neue"/>
              </a:rPr>
              <a:t>Results &amp; Discussion</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9933F48C-41B5-440A-8DD8-DD0D324CB1A0}"/>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8</a:t>
            </a:r>
          </a:p>
        </p:txBody>
      </p:sp>
      <p:sp>
        <p:nvSpPr>
          <p:cNvPr id="3" name="Rectangle 2">
            <a:extLst>
              <a:ext uri="{FF2B5EF4-FFF2-40B4-BE49-F238E27FC236}">
                <a16:creationId xmlns:a16="http://schemas.microsoft.com/office/drawing/2014/main" id="{621A4F22-3966-4C88-8EF4-A5111465FE71}"/>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TextBox 3">
            <a:extLst>
              <a:ext uri="{FF2B5EF4-FFF2-40B4-BE49-F238E27FC236}">
                <a16:creationId xmlns:a16="http://schemas.microsoft.com/office/drawing/2014/main" id="{692753CC-43B6-13EB-2EDD-1A1DF0D1D655}"/>
              </a:ext>
            </a:extLst>
          </p:cNvPr>
          <p:cNvSpPr txBox="1"/>
          <p:nvPr/>
        </p:nvSpPr>
        <p:spPr>
          <a:xfrm>
            <a:off x="395927" y="1247775"/>
            <a:ext cx="11274458" cy="5293757"/>
          </a:xfrm>
          <a:prstGeom prst="rect">
            <a:avLst/>
          </a:prstGeom>
          <a:noFill/>
        </p:spPr>
        <p:txBody>
          <a:bodyPr wrap="square" rtlCol="0">
            <a:spAutoFit/>
          </a:bodyPr>
          <a:lstStyle/>
          <a:p>
            <a:pPr lvl="0"/>
            <a:r>
              <a:rPr lang="en-TH" sz="1600" dirty="0"/>
              <a:t>ภาพลวงตาของความแม่นยำ (The Accuracy Illusion)</a:t>
            </a:r>
          </a:p>
          <a:p>
            <a:pPr lvl="0"/>
            <a:br>
              <a:rPr lang="en-TH" sz="1400" dirty="0"/>
            </a:br>
            <a:r>
              <a:rPr lang="en-TH" sz="1400" dirty="0"/>
              <a:t>สิ่งที่พบ โมเดลพื้นฐาน (Majority Baseline) ที่หลับตาเดาว่าตลาดจะ "ขึ้น" ทุกวัน สามารถทำ Raw Accuracy ได้สูงถึง 54.77% แต่มีค่า Balanced Accuracy และ ROC AUC เพียง 0.50 (ไม่ต่างจากการทอยเหรียญ)</a:t>
            </a:r>
          </a:p>
          <a:p>
            <a:pPr lvl="0"/>
            <a:r>
              <a:rPr lang="en-TH" sz="1400" dirty="0"/>
              <a:t>Insight ในตลาดที่เอนเอียงไปทางขาขึ้น (Imbalanced class) การดูแค่ค่า Accuracy นั้นอันตรายและหลอกตา โมเดลที่ใช้งานได้จริงต้องวัดผลด้วย ROC AUC และ Balanced Accuracy</a:t>
            </a:r>
            <a:br>
              <a:rPr lang="en-TH" sz="1400" dirty="0"/>
            </a:br>
            <a:endParaRPr lang="en-TH" sz="1400" dirty="0"/>
          </a:p>
          <a:p>
            <a:pPr lvl="0"/>
            <a:r>
              <a:rPr lang="en-TH" sz="1400" dirty="0"/>
              <a:t>2. โมเดลที่ดีที่สุด (The Champion Model: Gradient Boosting)</a:t>
            </a:r>
            <a:br>
              <a:rPr lang="en-TH" sz="1400" dirty="0"/>
            </a:br>
            <a:r>
              <a:rPr lang="en-TH" sz="1400" dirty="0"/>
              <a:t>สิ่งที่พบ: การทำนายตลาดล่วงหน้า 1 วันเป็นเรื่องยากมาก (โมเดลส่วนใหญ่ ROC AUC เกาะกลุ่มที่ 0.50) แต่ Gradient Boosting ทำผลงานได้ดีที่สุด โดยมีค่า Balanced Accuracy = 52.74% และ ROC AUC = 0.526</a:t>
            </a:r>
            <a:br>
              <a:rPr lang="en-TH" sz="1400" dirty="0"/>
            </a:br>
            <a:endParaRPr lang="en-TH" sz="1400" dirty="0"/>
          </a:p>
          <a:p>
            <a:pPr lvl="0"/>
            <a:r>
              <a:rPr lang="en-TH" sz="1400" dirty="0"/>
              <a:t>Insight: แม้ความแม่นยำดิบ (53.00%) จะน้อยกว่า Baseline แต่ Gradient Boosting มี "ทักษะการทำนาย (Predictive Skill)" ที่แท้จริง เพราะเรียนรู้ที่จะแยกแยะและดักจับได้ทั้งจังหวะตลาด "ขาขึ้น" และ "ขาลง"</a:t>
            </a:r>
            <a:br>
              <a:rPr lang="en-TH" sz="1400" dirty="0"/>
            </a:br>
            <a:endParaRPr lang="en-TH" sz="1400" dirty="0"/>
          </a:p>
          <a:p>
            <a:pPr lvl="0"/>
            <a:r>
              <a:rPr lang="en-TH" sz="1400" dirty="0"/>
              <a:t>3. ปัจจัยหลักที่ใช้ทำนายตลาดระยะสั้น (Volatility &amp; Momentum Rule)</a:t>
            </a:r>
            <a:br>
              <a:rPr lang="en-TH" sz="1400" dirty="0"/>
            </a:br>
            <a:r>
              <a:rPr lang="en-TH" sz="1400" dirty="0"/>
              <a:t>สิ่งที่พบ: จากการวิเคราะห์ Feature Importance ตัวแปรกลุ่ม ความผันผวน (Volatility) และ โมเมนตัม (Momentum) คือปัจจัยที่มีอิทธิพลต่อโมเดลมากที่สุด</a:t>
            </a:r>
            <a:br>
              <a:rPr lang="en-TH" sz="1400" dirty="0"/>
            </a:br>
            <a:endParaRPr lang="en-TH" sz="1400" dirty="0"/>
          </a:p>
          <a:p>
            <a:pPr lvl="0"/>
            <a:r>
              <a:rPr lang="en-TH" sz="1400" dirty="0"/>
              <a:t>Top 3 Features</a:t>
            </a:r>
            <a:br>
              <a:rPr lang="en-TH" sz="1400" dirty="0"/>
            </a:br>
            <a:r>
              <a:rPr lang="en-TH" sz="1400" dirty="0"/>
              <a:t>1. atr_14_pct (Average True Range - ความผันผวน)</a:t>
            </a:r>
            <a:br>
              <a:rPr lang="en-TH" sz="1400" dirty="0"/>
            </a:br>
            <a:r>
              <a:rPr lang="en-TH" sz="1400" dirty="0"/>
              <a:t>2. rsi_14 (โมเมนตัม)</a:t>
            </a:r>
            <a:br>
              <a:rPr lang="en-TH" sz="1400" dirty="0"/>
            </a:br>
            <a:r>
              <a:rPr lang="en-TH" sz="1400" dirty="0"/>
              <a:t>3. roc_10 (โมเมนตัม)</a:t>
            </a:r>
            <a:br>
              <a:rPr lang="en-TH" sz="1400" dirty="0"/>
            </a:br>
            <a:endParaRPr lang="en-TH" sz="1400" dirty="0"/>
          </a:p>
          <a:p>
            <a:pPr lvl="0"/>
            <a:r>
              <a:rPr lang="en-TH" sz="1400" dirty="0"/>
              <a:t>Insight </a:t>
            </a:r>
          </a:p>
          <a:p>
            <a:pPr lvl="0"/>
            <a:r>
              <a:rPr lang="en-TH" sz="1400" dirty="0"/>
              <a:t>สำหรับการทำนายระยะสั้นเพียง 1 วัน ตัวชี้วัดกลุ่มแนวโน้ม (Trend) และปริมาณการซื้อขาย (Volume) แทบจะไม่มีประโยชน์และให้ข้อมูลที่ช้าเกินไป (Lagging)</a:t>
            </a:r>
          </a:p>
          <a:p>
            <a:endParaRPr lang="en-TH" sz="1400" dirty="0"/>
          </a:p>
        </p:txBody>
      </p:sp>
    </p:spTree>
    <p:extLst>
      <p:ext uri="{BB962C8B-B14F-4D97-AF65-F5344CB8AC3E}">
        <p14:creationId xmlns:p14="http://schemas.microsoft.com/office/powerpoint/2010/main" val="336995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2B0BADA-902F-4436-B445-0E75100F2514}"/>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US" sz="2550" b="1" dirty="0">
                <a:solidFill>
                  <a:srgbClr val="16324F"/>
                </a:solidFill>
                <a:latin typeface="Helvetica Neue"/>
                <a:ea typeface="Helvetica Neue"/>
                <a:cs typeface="Helvetica Neue"/>
              </a:rPr>
              <a:t>Insights: </a:t>
            </a:r>
            <a:r>
              <a:rPr sz="2550" b="1" dirty="0">
                <a:solidFill>
                  <a:srgbClr val="16324F"/>
                </a:solidFill>
                <a:latin typeface="Helvetica Neue"/>
                <a:ea typeface="Helvetica Neue"/>
                <a:cs typeface="Helvetica Neue"/>
              </a:rPr>
              <a:t>Answers to the research questions</a:t>
            </a:r>
          </a:p>
        </p:txBody>
      </p:sp>
      <p:sp>
        <p:nvSpPr>
          <p:cNvPr id="2" name="Rectangle 1">
            <a:extLst>
              <a:ext uri="{FF2B5EF4-FFF2-40B4-BE49-F238E27FC236}">
                <a16:creationId xmlns:a16="http://schemas.microsoft.com/office/drawing/2014/main" id="{2F679DA9-CC46-4CC5-9BC6-106A89979AC3}"/>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10</a:t>
            </a:r>
          </a:p>
        </p:txBody>
      </p:sp>
      <p:sp>
        <p:nvSpPr>
          <p:cNvPr id="3" name="Rectangle 2">
            <a:extLst>
              <a:ext uri="{FF2B5EF4-FFF2-40B4-BE49-F238E27FC236}">
                <a16:creationId xmlns:a16="http://schemas.microsoft.com/office/drawing/2014/main" id="{8BA3473F-5D61-4CEB-AAF6-6B6693EF584A}"/>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10B9E3D5-151C-4BD4-890E-18537A14A957}"/>
              </a:ext>
            </a:extLst>
          </p:cNvPr>
          <p:cNvSpPr>
            <a:spLocks noGrp="1"/>
          </p:cNvSpPr>
          <p:nvPr/>
        </p:nvSpPr>
        <p:spPr>
          <a:xfrm>
            <a:off x="762000" y="1428750"/>
            <a:ext cx="952500" cy="381000"/>
          </a:xfrm>
          <a:prstGeom prst="rect">
            <a:avLst/>
          </a:prstGeom>
          <a:noFill/>
          <a:ln w="0">
            <a:noFill/>
          </a:ln>
        </p:spPr>
        <p:txBody>
          <a:bodyPr anchor="ctr"/>
          <a:lstStyle/>
          <a:p>
            <a:pPr algn="l">
              <a:defRPr sz="1950" b="1">
                <a:solidFill>
                  <a:srgbClr val="2F80ED"/>
                </a:solidFill>
                <a:latin typeface="Helvetica Neue"/>
                <a:ea typeface="Helvetica Neue"/>
                <a:cs typeface="Helvetica Neue"/>
              </a:defRPr>
            </a:pPr>
            <a:r>
              <a:rPr sz="1950" b="1">
                <a:solidFill>
                  <a:srgbClr val="2F80ED"/>
                </a:solidFill>
                <a:latin typeface="Helvetica Neue"/>
                <a:ea typeface="Helvetica Neue"/>
                <a:cs typeface="Helvetica Neue"/>
              </a:rPr>
              <a:t>RQ1</a:t>
            </a:r>
          </a:p>
        </p:txBody>
      </p:sp>
      <p:sp>
        <p:nvSpPr>
          <p:cNvPr id="5" name="Rectangle 4">
            <a:extLst>
              <a:ext uri="{FF2B5EF4-FFF2-40B4-BE49-F238E27FC236}">
                <a16:creationId xmlns:a16="http://schemas.microsoft.com/office/drawing/2014/main" id="{5597624C-D5CE-42F2-B4C2-B18F9C2A310C}"/>
              </a:ext>
            </a:extLst>
          </p:cNvPr>
          <p:cNvSpPr>
            <a:spLocks noGrp="1"/>
          </p:cNvSpPr>
          <p:nvPr/>
        </p:nvSpPr>
        <p:spPr>
          <a:xfrm>
            <a:off x="1809750" y="1352550"/>
            <a:ext cx="9239250" cy="571500"/>
          </a:xfrm>
          <a:prstGeom prst="rect">
            <a:avLst/>
          </a:prstGeom>
          <a:noFill/>
          <a:ln w="0">
            <a:noFill/>
          </a:ln>
        </p:spPr>
        <p:txBody>
          <a:bodyPr anchor="ctr"/>
          <a:lstStyle/>
          <a:p>
            <a:pPr algn="l">
              <a:defRPr sz="1875" b="1">
                <a:solidFill>
                  <a:srgbClr val="1F2933"/>
                </a:solidFill>
                <a:latin typeface="Helvetica Neue"/>
                <a:ea typeface="Helvetica Neue"/>
                <a:cs typeface="Helvetica Neue"/>
              </a:defRPr>
            </a:pPr>
            <a:r>
              <a:rPr lang="en-US" sz="1875" b="1" dirty="0">
                <a:solidFill>
                  <a:srgbClr val="1F2933"/>
                </a:solidFill>
                <a:latin typeface="Helvetica Neue"/>
                <a:ea typeface="Helvetica Neue"/>
                <a:cs typeface="Helvetica Neue"/>
              </a:rPr>
              <a:t>Price, Return, Volatility, Indicator Patterns</a:t>
            </a:r>
            <a:endParaRPr sz="1875" b="1" dirty="0">
              <a:solidFill>
                <a:srgbClr val="1F2933"/>
              </a:solidFill>
              <a:latin typeface="Helvetica Neue"/>
              <a:ea typeface="Helvetica Neue"/>
              <a:cs typeface="Helvetica Neue"/>
            </a:endParaRPr>
          </a:p>
        </p:txBody>
      </p:sp>
      <p:pic>
        <p:nvPicPr>
          <p:cNvPr id="21" name="Picture 20">
            <a:extLst>
              <a:ext uri="{FF2B5EF4-FFF2-40B4-BE49-F238E27FC236}">
                <a16:creationId xmlns:a16="http://schemas.microsoft.com/office/drawing/2014/main" id="{E761BE0D-F43D-8F52-0D8E-6C4682514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354" y="1916788"/>
            <a:ext cx="3847707" cy="1800845"/>
          </a:xfrm>
          <a:prstGeom prst="rect">
            <a:avLst/>
          </a:prstGeom>
        </p:spPr>
      </p:pic>
      <p:pic>
        <p:nvPicPr>
          <p:cNvPr id="23" name="Picture 22">
            <a:extLst>
              <a:ext uri="{FF2B5EF4-FFF2-40B4-BE49-F238E27FC236}">
                <a16:creationId xmlns:a16="http://schemas.microsoft.com/office/drawing/2014/main" id="{B1357AF5-0048-A53C-FF64-008CD17167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4648" y="1916788"/>
            <a:ext cx="2885284" cy="1865749"/>
          </a:xfrm>
          <a:prstGeom prst="rect">
            <a:avLst/>
          </a:prstGeom>
        </p:spPr>
      </p:pic>
      <p:pic>
        <p:nvPicPr>
          <p:cNvPr id="25" name="Picture 24">
            <a:extLst>
              <a:ext uri="{FF2B5EF4-FFF2-40B4-BE49-F238E27FC236}">
                <a16:creationId xmlns:a16="http://schemas.microsoft.com/office/drawing/2014/main" id="{4B4F9196-CB1A-E3F3-7A3A-7E10256169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353" y="4281871"/>
            <a:ext cx="3847707" cy="1983466"/>
          </a:xfrm>
          <a:prstGeom prst="rect">
            <a:avLst/>
          </a:prstGeom>
        </p:spPr>
      </p:pic>
      <p:pic>
        <p:nvPicPr>
          <p:cNvPr id="27" name="Picture 26">
            <a:extLst>
              <a:ext uri="{FF2B5EF4-FFF2-40B4-BE49-F238E27FC236}">
                <a16:creationId xmlns:a16="http://schemas.microsoft.com/office/drawing/2014/main" id="{3AE35663-B4AD-70DB-4FC7-AF9ADF63F5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9687" y="3981358"/>
            <a:ext cx="2977378" cy="2467067"/>
          </a:xfrm>
          <a:prstGeom prst="rect">
            <a:avLst/>
          </a:prstGeom>
        </p:spPr>
      </p:pic>
      <p:sp>
        <p:nvSpPr>
          <p:cNvPr id="28" name="TextBox 27">
            <a:extLst>
              <a:ext uri="{FF2B5EF4-FFF2-40B4-BE49-F238E27FC236}">
                <a16:creationId xmlns:a16="http://schemas.microsoft.com/office/drawing/2014/main" id="{7E31C628-80CF-7999-331D-951E33045D12}"/>
              </a:ext>
            </a:extLst>
          </p:cNvPr>
          <p:cNvSpPr txBox="1"/>
          <p:nvPr/>
        </p:nvSpPr>
        <p:spPr>
          <a:xfrm>
            <a:off x="4242061" y="1982450"/>
            <a:ext cx="2017337" cy="1384995"/>
          </a:xfrm>
          <a:prstGeom prst="rect">
            <a:avLst/>
          </a:prstGeom>
          <a:noFill/>
        </p:spPr>
        <p:txBody>
          <a:bodyPr wrap="square" rtlCol="0">
            <a:spAutoFit/>
          </a:bodyPr>
          <a:lstStyle/>
          <a:p>
            <a:r>
              <a:rPr lang="en-TH" sz="1400" dirty="0"/>
              <a:t>Price สินทรัพย์มีแนวโน้มเป็นขาขึ้นในระยะยาว แต่มีรอบการปรับฐานตามสภาวะเศรษฐกิจมหภาคที่ชัดเจน เช่น การปรับตัวลงอย่างรุนแรงตลอดช่วงปี 2022 ก่อนที่จะฟื้นตัวกลับมาสร้างจุดสูงสุดใหม่</a:t>
            </a:r>
          </a:p>
        </p:txBody>
      </p:sp>
      <p:sp>
        <p:nvSpPr>
          <p:cNvPr id="29" name="TextBox 28">
            <a:extLst>
              <a:ext uri="{FF2B5EF4-FFF2-40B4-BE49-F238E27FC236}">
                <a16:creationId xmlns:a16="http://schemas.microsoft.com/office/drawing/2014/main" id="{64236C7A-E28E-84C8-81C9-781AC597A39E}"/>
              </a:ext>
            </a:extLst>
          </p:cNvPr>
          <p:cNvSpPr txBox="1"/>
          <p:nvPr/>
        </p:nvSpPr>
        <p:spPr>
          <a:xfrm>
            <a:off x="4242061" y="4281871"/>
            <a:ext cx="2017337" cy="1600438"/>
          </a:xfrm>
          <a:prstGeom prst="rect">
            <a:avLst/>
          </a:prstGeom>
          <a:noFill/>
        </p:spPr>
        <p:txBody>
          <a:bodyPr wrap="square" rtlCol="0">
            <a:spAutoFit/>
          </a:bodyPr>
          <a:lstStyle/>
          <a:p>
            <a:r>
              <a:rPr lang="en-TH" sz="1400" dirty="0"/>
              <a:t>Volatility ความผันผวนไม่ได้กระจายตัวเท่ากันตลอดทั้งปี โดยพบว่าการกระจายตัวของผลตอบแทนในบางเดือนปฏิทิน เช่น เดือนเมษายนและพฤศจิกายน มีกรอบการแกว่งตัวและมีค่า Outlier ที่กว้างกว่าเดือนอื่นๆ</a:t>
            </a:r>
          </a:p>
        </p:txBody>
      </p:sp>
      <p:sp>
        <p:nvSpPr>
          <p:cNvPr id="30" name="TextBox 29">
            <a:extLst>
              <a:ext uri="{FF2B5EF4-FFF2-40B4-BE49-F238E27FC236}">
                <a16:creationId xmlns:a16="http://schemas.microsoft.com/office/drawing/2014/main" id="{249B99C5-AA5E-B015-2E6B-6BCFCF23A714}"/>
              </a:ext>
            </a:extLst>
          </p:cNvPr>
          <p:cNvSpPr txBox="1"/>
          <p:nvPr/>
        </p:nvSpPr>
        <p:spPr>
          <a:xfrm>
            <a:off x="9417355" y="1982450"/>
            <a:ext cx="2017337" cy="1815882"/>
          </a:xfrm>
          <a:prstGeom prst="rect">
            <a:avLst/>
          </a:prstGeom>
          <a:noFill/>
        </p:spPr>
        <p:txBody>
          <a:bodyPr wrap="square" rtlCol="0">
            <a:spAutoFit/>
          </a:bodyPr>
          <a:lstStyle/>
          <a:p>
            <a:r>
              <a:rPr lang="en-TH" sz="1400" dirty="0"/>
              <a:t>Return การกระจายตัวของผลตอบแทนรายวันมีลักษณะคล้ายการแจกแจงปกติ</a:t>
            </a:r>
          </a:p>
          <a:p>
            <a:r>
              <a:rPr lang="en-TH" sz="1400" dirty="0"/>
              <a:t>(Normal distribution)</a:t>
            </a:r>
          </a:p>
          <a:p>
            <a:r>
              <a:rPr lang="en-TH" sz="1400" dirty="0"/>
              <a:t>โดยมีจุดศูนย์กลางใกล้ 0% แต่มีลักษณะ หางหนา (Fatter tails) ซึ่งบ่งชี้ถึงการเกิดเหตุการณ์ช็อกของตลาดที่ราคาแกว่งตัวรุนแรงในบางวัน</a:t>
            </a:r>
          </a:p>
        </p:txBody>
      </p:sp>
      <p:sp>
        <p:nvSpPr>
          <p:cNvPr id="31" name="TextBox 30">
            <a:extLst>
              <a:ext uri="{FF2B5EF4-FFF2-40B4-BE49-F238E27FC236}">
                <a16:creationId xmlns:a16="http://schemas.microsoft.com/office/drawing/2014/main" id="{BBD6A546-B3EC-B598-BDB0-09C9767E41A1}"/>
              </a:ext>
            </a:extLst>
          </p:cNvPr>
          <p:cNvSpPr txBox="1"/>
          <p:nvPr/>
        </p:nvSpPr>
        <p:spPr>
          <a:xfrm>
            <a:off x="9417355" y="4066427"/>
            <a:ext cx="2017337" cy="2677656"/>
          </a:xfrm>
          <a:prstGeom prst="rect">
            <a:avLst/>
          </a:prstGeom>
          <a:noFill/>
        </p:spPr>
        <p:txBody>
          <a:bodyPr wrap="square" rtlCol="0">
            <a:spAutoFit/>
          </a:bodyPr>
          <a:lstStyle/>
          <a:p>
            <a:r>
              <a:rPr lang="en-TH" sz="1400" dirty="0"/>
              <a:t>Indicator Patterns กลุ่มตัวชี้วัดที่เป็น Trend มีค่าความสัมพันธ์กันเอง (Collinearity) สูงมาก และเมื่อนำตัวชี้วัดมาพล็อตเทียบกับผลตอบแทนวันถัดไป พบว่าข้อมูลเกาะกลุ่มกันหนาแน่นโดยไม่มีการแบ่งแยกเชิงเส้นที่ชัดเจน (Lack of linear separability) ซึ่งบังคับให้ต้องใช้โมเดล Machine Learning แบบ Non-linear ในการวิเคราะห์</a:t>
            </a:r>
          </a:p>
        </p:txBody>
      </p:sp>
    </p:spTree>
    <p:extLst>
      <p:ext uri="{BB962C8B-B14F-4D97-AF65-F5344CB8AC3E}">
        <p14:creationId xmlns:p14="http://schemas.microsoft.com/office/powerpoint/2010/main" val="1027507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57CBE-35B1-D9B4-70E6-E9C47472808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9FEC95F-8A71-8A1D-2238-EDA3A1512ADA}"/>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US" sz="2550" b="1" dirty="0">
                <a:solidFill>
                  <a:srgbClr val="16324F"/>
                </a:solidFill>
                <a:latin typeface="Helvetica Neue"/>
                <a:ea typeface="Helvetica Neue"/>
                <a:cs typeface="Helvetica Neue"/>
              </a:rPr>
              <a:t>Insights: </a:t>
            </a:r>
            <a:r>
              <a:rPr sz="2550" b="1" dirty="0">
                <a:solidFill>
                  <a:srgbClr val="16324F"/>
                </a:solidFill>
                <a:latin typeface="Helvetica Neue"/>
                <a:ea typeface="Helvetica Neue"/>
                <a:cs typeface="Helvetica Neue"/>
              </a:rPr>
              <a:t>Answers to the research questions</a:t>
            </a:r>
          </a:p>
        </p:txBody>
      </p:sp>
      <p:sp>
        <p:nvSpPr>
          <p:cNvPr id="2" name="Rectangle 1">
            <a:extLst>
              <a:ext uri="{FF2B5EF4-FFF2-40B4-BE49-F238E27FC236}">
                <a16:creationId xmlns:a16="http://schemas.microsoft.com/office/drawing/2014/main" id="{EEA75897-CC98-8856-5F07-6AA725E59209}"/>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10</a:t>
            </a:r>
          </a:p>
        </p:txBody>
      </p:sp>
      <p:sp>
        <p:nvSpPr>
          <p:cNvPr id="3" name="Rectangle 2">
            <a:extLst>
              <a:ext uri="{FF2B5EF4-FFF2-40B4-BE49-F238E27FC236}">
                <a16:creationId xmlns:a16="http://schemas.microsoft.com/office/drawing/2014/main" id="{0ABF8C54-FFCD-76B9-FEAB-683E7DFD7901}"/>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5" name="Rectangle 4">
            <a:extLst>
              <a:ext uri="{FF2B5EF4-FFF2-40B4-BE49-F238E27FC236}">
                <a16:creationId xmlns:a16="http://schemas.microsoft.com/office/drawing/2014/main" id="{9A855845-F4D3-0604-420C-F25EADB35DD4}"/>
              </a:ext>
            </a:extLst>
          </p:cNvPr>
          <p:cNvSpPr>
            <a:spLocks noGrp="1"/>
          </p:cNvSpPr>
          <p:nvPr/>
        </p:nvSpPr>
        <p:spPr>
          <a:xfrm>
            <a:off x="1809750" y="1352550"/>
            <a:ext cx="9239250" cy="571500"/>
          </a:xfrm>
          <a:prstGeom prst="rect">
            <a:avLst/>
          </a:prstGeom>
          <a:noFill/>
          <a:ln w="0">
            <a:noFill/>
          </a:ln>
        </p:spPr>
        <p:txBody>
          <a:bodyPr anchor="ctr"/>
          <a:lstStyle/>
          <a:p>
            <a:pPr>
              <a:defRPr sz="1875" b="1">
                <a:solidFill>
                  <a:srgbClr val="1F2933"/>
                </a:solidFill>
                <a:latin typeface="Helvetica Neue"/>
                <a:ea typeface="Helvetica Neue"/>
                <a:cs typeface="Helvetica Neue"/>
              </a:defRPr>
            </a:pPr>
            <a:r>
              <a:rPr lang="en-TH" sz="1875" b="1" dirty="0">
                <a:solidFill>
                  <a:srgbClr val="1F2933"/>
                </a:solidFill>
                <a:latin typeface="Helvetica Neue"/>
              </a:rPr>
              <a:t>Individual Features, Indicator Families</a:t>
            </a:r>
          </a:p>
        </p:txBody>
      </p:sp>
      <p:sp>
        <p:nvSpPr>
          <p:cNvPr id="6" name="Rectangle 5">
            <a:extLst>
              <a:ext uri="{FF2B5EF4-FFF2-40B4-BE49-F238E27FC236}">
                <a16:creationId xmlns:a16="http://schemas.microsoft.com/office/drawing/2014/main" id="{D68D38FE-D903-7416-D02A-5C52CEDC9159}"/>
              </a:ext>
            </a:extLst>
          </p:cNvPr>
          <p:cNvSpPr>
            <a:spLocks noGrp="1"/>
          </p:cNvSpPr>
          <p:nvPr/>
        </p:nvSpPr>
        <p:spPr>
          <a:xfrm>
            <a:off x="762000" y="1447800"/>
            <a:ext cx="952500" cy="381000"/>
          </a:xfrm>
          <a:prstGeom prst="rect">
            <a:avLst/>
          </a:prstGeom>
          <a:noFill/>
          <a:ln w="0">
            <a:noFill/>
          </a:ln>
        </p:spPr>
        <p:txBody>
          <a:bodyPr anchor="ctr"/>
          <a:lstStyle/>
          <a:p>
            <a:pPr algn="l">
              <a:defRPr sz="1950" b="1">
                <a:solidFill>
                  <a:srgbClr val="219EBC"/>
                </a:solidFill>
                <a:latin typeface="Helvetica Neue"/>
                <a:ea typeface="Helvetica Neue"/>
                <a:cs typeface="Helvetica Neue"/>
              </a:defRPr>
            </a:pPr>
            <a:r>
              <a:rPr sz="1950" b="1" dirty="0">
                <a:solidFill>
                  <a:srgbClr val="219EBC"/>
                </a:solidFill>
                <a:latin typeface="Helvetica Neue"/>
                <a:ea typeface="Helvetica Neue"/>
                <a:cs typeface="Helvetica Neue"/>
              </a:rPr>
              <a:t>RQ2</a:t>
            </a:r>
          </a:p>
        </p:txBody>
      </p:sp>
      <p:pic>
        <p:nvPicPr>
          <p:cNvPr id="14" name="Picture 13">
            <a:extLst>
              <a:ext uri="{FF2B5EF4-FFF2-40B4-BE49-F238E27FC236}">
                <a16:creationId xmlns:a16="http://schemas.microsoft.com/office/drawing/2014/main" id="{605E2F7B-3BBC-EDCD-CA24-4A8A0EEFA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240" y="2086781"/>
            <a:ext cx="4339535" cy="2976649"/>
          </a:xfrm>
          <a:prstGeom prst="rect">
            <a:avLst/>
          </a:prstGeom>
        </p:spPr>
      </p:pic>
      <p:pic>
        <p:nvPicPr>
          <p:cNvPr id="16" name="Picture 15">
            <a:extLst>
              <a:ext uri="{FF2B5EF4-FFF2-40B4-BE49-F238E27FC236}">
                <a16:creationId xmlns:a16="http://schemas.microsoft.com/office/drawing/2014/main" id="{2D540FA9-EE37-4D51-273C-A52575A248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9460" y="2086781"/>
            <a:ext cx="5070912" cy="2976598"/>
          </a:xfrm>
          <a:prstGeom prst="rect">
            <a:avLst/>
          </a:prstGeom>
        </p:spPr>
      </p:pic>
      <p:sp>
        <p:nvSpPr>
          <p:cNvPr id="17" name="TextBox 16">
            <a:extLst>
              <a:ext uri="{FF2B5EF4-FFF2-40B4-BE49-F238E27FC236}">
                <a16:creationId xmlns:a16="http://schemas.microsoft.com/office/drawing/2014/main" id="{24A5367F-4374-6908-81EC-5999479FB6E2}"/>
              </a:ext>
            </a:extLst>
          </p:cNvPr>
          <p:cNvSpPr txBox="1"/>
          <p:nvPr/>
        </p:nvSpPr>
        <p:spPr>
          <a:xfrm>
            <a:off x="609600" y="5410200"/>
            <a:ext cx="5093616" cy="738664"/>
          </a:xfrm>
          <a:prstGeom prst="rect">
            <a:avLst/>
          </a:prstGeom>
          <a:noFill/>
        </p:spPr>
        <p:txBody>
          <a:bodyPr wrap="square" rtlCol="0">
            <a:spAutoFit/>
          </a:bodyPr>
          <a:lstStyle/>
          <a:p>
            <a:r>
              <a:rPr lang="en-TH" sz="1400" dirty="0"/>
              <a:t>ระดับตัวแปรเดี่ยว (Individual Features) ตัวชี้วัดที่สำคัญที่สุดอันดับหนึ่งคือ atr_14_pct (Average True Range Percentage) รองลงมาคือตัวชี้วัดด้านโมเมนตัม ได้แก่ rsi_14 (Relative Strength Index) และ roc_10 (Rate of Change)</a:t>
            </a:r>
          </a:p>
        </p:txBody>
      </p:sp>
      <p:sp>
        <p:nvSpPr>
          <p:cNvPr id="18" name="TextBox 17">
            <a:extLst>
              <a:ext uri="{FF2B5EF4-FFF2-40B4-BE49-F238E27FC236}">
                <a16:creationId xmlns:a16="http://schemas.microsoft.com/office/drawing/2014/main" id="{690439B4-9ADD-3389-838B-C911C429EFAF}"/>
              </a:ext>
            </a:extLst>
          </p:cNvPr>
          <p:cNvSpPr txBox="1"/>
          <p:nvPr/>
        </p:nvSpPr>
        <p:spPr>
          <a:xfrm>
            <a:off x="6096000" y="5410200"/>
            <a:ext cx="4953000" cy="1169551"/>
          </a:xfrm>
          <a:prstGeom prst="rect">
            <a:avLst/>
          </a:prstGeom>
          <a:noFill/>
        </p:spPr>
        <p:txBody>
          <a:bodyPr wrap="square" rtlCol="0">
            <a:spAutoFit/>
          </a:bodyPr>
          <a:lstStyle/>
          <a:p>
            <a:r>
              <a:rPr lang="en-TH" sz="1400" dirty="0"/>
              <a:t>ระดับกลุ่มตัวแปร (Indicator Families) กลุ่มตัวแปรด้านความผันผวน (Volatility) และโมเมนตัมระยะสั้น (Momentum) เป็นกลไกหลักที่ทรงอิทธิพลที่สุดในการตัดสินใจของโมเดล ในทางกลับกัน ตัวชี้วัดกลุ่มแนวโน้ม (Trend) แทบไม่มีประโยชน์ต่อการทำนายระยะ 1 วันเลย และกลุ่มปริมาณการซื้อขาย (Volume) มีค่าความสำคัญติดลบ ซึ่งหมายความว่าทำให้ประสิทธิภาพการทำนายลดลง</a:t>
            </a:r>
          </a:p>
        </p:txBody>
      </p:sp>
    </p:spTree>
    <p:extLst>
      <p:ext uri="{BB962C8B-B14F-4D97-AF65-F5344CB8AC3E}">
        <p14:creationId xmlns:p14="http://schemas.microsoft.com/office/powerpoint/2010/main" val="2157749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1942-0115-DAA2-7654-2D6C009E18D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719A0AE-1384-20E1-AC13-22CB95EA04B4}"/>
              </a:ext>
            </a:extLst>
          </p:cNvPr>
          <p:cNvSpPr>
            <a:spLocks noGrp="1"/>
          </p:cNvSpPr>
          <p:nvPr/>
        </p:nvSpPr>
        <p:spPr>
          <a:xfrm>
            <a:off x="609600" y="342900"/>
            <a:ext cx="10668000" cy="571500"/>
          </a:xfrm>
          <a:prstGeom prst="rect">
            <a:avLst/>
          </a:prstGeom>
          <a:noFill/>
          <a:ln w="0">
            <a:noFill/>
          </a:ln>
        </p:spPr>
        <p:txBody>
          <a:bodyPr anchor="ctr"/>
          <a:lstStyle/>
          <a:p>
            <a:pPr>
              <a:defRPr sz="2550" b="1">
                <a:solidFill>
                  <a:srgbClr val="16324F"/>
                </a:solidFill>
                <a:latin typeface="Helvetica Neue"/>
                <a:ea typeface="Helvetica Neue"/>
                <a:cs typeface="Helvetica Neue"/>
              </a:defRPr>
            </a:pPr>
            <a:r>
              <a:rPr lang="en-US" sz="2550" b="1" dirty="0">
                <a:solidFill>
                  <a:srgbClr val="16324F"/>
                </a:solidFill>
                <a:latin typeface="Helvetica Neue"/>
                <a:ea typeface="Helvetica Neue"/>
                <a:cs typeface="Helvetica Neue"/>
              </a:rPr>
              <a:t>Insights: </a:t>
            </a:r>
            <a:r>
              <a:rPr sz="2550" b="1" dirty="0">
                <a:solidFill>
                  <a:srgbClr val="16324F"/>
                </a:solidFill>
                <a:latin typeface="Helvetica Neue"/>
                <a:ea typeface="Helvetica Neue"/>
                <a:cs typeface="Helvetica Neue"/>
              </a:rPr>
              <a:t>Answers to the research questions</a:t>
            </a:r>
          </a:p>
        </p:txBody>
      </p:sp>
      <p:sp>
        <p:nvSpPr>
          <p:cNvPr id="2" name="Rectangle 1">
            <a:extLst>
              <a:ext uri="{FF2B5EF4-FFF2-40B4-BE49-F238E27FC236}">
                <a16:creationId xmlns:a16="http://schemas.microsoft.com/office/drawing/2014/main" id="{39616100-6246-6BA8-C0AF-ECDD1CE036D6}"/>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10</a:t>
            </a:r>
          </a:p>
        </p:txBody>
      </p:sp>
      <p:sp>
        <p:nvSpPr>
          <p:cNvPr id="3" name="Rectangle 2">
            <a:extLst>
              <a:ext uri="{FF2B5EF4-FFF2-40B4-BE49-F238E27FC236}">
                <a16:creationId xmlns:a16="http://schemas.microsoft.com/office/drawing/2014/main" id="{E02DA832-7995-9CEB-EAE4-406F917EE6A9}"/>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5" name="Rectangle 4">
            <a:extLst>
              <a:ext uri="{FF2B5EF4-FFF2-40B4-BE49-F238E27FC236}">
                <a16:creationId xmlns:a16="http://schemas.microsoft.com/office/drawing/2014/main" id="{92511A1F-A0EA-882D-972F-361FDE10DB17}"/>
              </a:ext>
            </a:extLst>
          </p:cNvPr>
          <p:cNvSpPr>
            <a:spLocks noGrp="1"/>
          </p:cNvSpPr>
          <p:nvPr/>
        </p:nvSpPr>
        <p:spPr>
          <a:xfrm>
            <a:off x="1809750" y="1352550"/>
            <a:ext cx="9239250" cy="571500"/>
          </a:xfrm>
          <a:prstGeom prst="rect">
            <a:avLst/>
          </a:prstGeom>
          <a:noFill/>
          <a:ln w="0">
            <a:noFill/>
          </a:ln>
        </p:spPr>
        <p:txBody>
          <a:bodyPr anchor="ctr"/>
          <a:lstStyle/>
          <a:p>
            <a:pPr>
              <a:defRPr sz="1875" b="1">
                <a:solidFill>
                  <a:srgbClr val="1F2933"/>
                </a:solidFill>
                <a:latin typeface="Helvetica Neue"/>
                <a:ea typeface="Helvetica Neue"/>
                <a:cs typeface="Helvetica Neue"/>
              </a:defRPr>
            </a:pPr>
            <a:r>
              <a:rPr lang="en-TH" sz="1875" b="1" dirty="0">
                <a:solidFill>
                  <a:srgbClr val="1F2933"/>
                </a:solidFill>
                <a:latin typeface="Helvetica Neue"/>
              </a:rPr>
              <a:t>Majority Baseline, Gradient Boosting</a:t>
            </a:r>
          </a:p>
        </p:txBody>
      </p:sp>
      <p:sp>
        <p:nvSpPr>
          <p:cNvPr id="8" name="Rectangle 7">
            <a:extLst>
              <a:ext uri="{FF2B5EF4-FFF2-40B4-BE49-F238E27FC236}">
                <a16:creationId xmlns:a16="http://schemas.microsoft.com/office/drawing/2014/main" id="{CCB19740-284E-359A-F5AA-031BA4EB9438}"/>
              </a:ext>
            </a:extLst>
          </p:cNvPr>
          <p:cNvSpPr>
            <a:spLocks noGrp="1"/>
          </p:cNvSpPr>
          <p:nvPr/>
        </p:nvSpPr>
        <p:spPr>
          <a:xfrm>
            <a:off x="762000" y="1447800"/>
            <a:ext cx="952500" cy="381000"/>
          </a:xfrm>
          <a:prstGeom prst="rect">
            <a:avLst/>
          </a:prstGeom>
          <a:noFill/>
          <a:ln w="0">
            <a:noFill/>
          </a:ln>
        </p:spPr>
        <p:txBody>
          <a:bodyPr anchor="ctr"/>
          <a:lstStyle/>
          <a:p>
            <a:pPr algn="l">
              <a:defRPr sz="1950" b="1">
                <a:solidFill>
                  <a:srgbClr val="F2994A"/>
                </a:solidFill>
                <a:latin typeface="Helvetica Neue"/>
                <a:ea typeface="Helvetica Neue"/>
                <a:cs typeface="Helvetica Neue"/>
              </a:defRPr>
            </a:pPr>
            <a:r>
              <a:rPr sz="1950" b="1" dirty="0">
                <a:solidFill>
                  <a:srgbClr val="F2994A"/>
                </a:solidFill>
                <a:latin typeface="Helvetica Neue"/>
                <a:ea typeface="Helvetica Neue"/>
                <a:cs typeface="Helvetica Neue"/>
              </a:rPr>
              <a:t>RQ3</a:t>
            </a:r>
          </a:p>
        </p:txBody>
      </p:sp>
      <p:pic>
        <p:nvPicPr>
          <p:cNvPr id="13" name="Picture 12">
            <a:extLst>
              <a:ext uri="{FF2B5EF4-FFF2-40B4-BE49-F238E27FC236}">
                <a16:creationId xmlns:a16="http://schemas.microsoft.com/office/drawing/2014/main" id="{861D2F88-4969-275F-5B02-21E1CD553E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1949898"/>
            <a:ext cx="3377221" cy="2640955"/>
          </a:xfrm>
          <a:prstGeom prst="rect">
            <a:avLst/>
          </a:prstGeom>
        </p:spPr>
      </p:pic>
      <p:pic>
        <p:nvPicPr>
          <p:cNvPr id="17" name="Picture 16">
            <a:extLst>
              <a:ext uri="{FF2B5EF4-FFF2-40B4-BE49-F238E27FC236}">
                <a16:creationId xmlns:a16="http://schemas.microsoft.com/office/drawing/2014/main" id="{31A9B234-C537-D99E-1562-4941D833E6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8998" y="1924050"/>
            <a:ext cx="2798936" cy="2831483"/>
          </a:xfrm>
          <a:prstGeom prst="rect">
            <a:avLst/>
          </a:prstGeom>
        </p:spPr>
      </p:pic>
      <p:pic>
        <p:nvPicPr>
          <p:cNvPr id="19" name="Picture 18">
            <a:extLst>
              <a:ext uri="{FF2B5EF4-FFF2-40B4-BE49-F238E27FC236}">
                <a16:creationId xmlns:a16="http://schemas.microsoft.com/office/drawing/2014/main" id="{3F859D4A-7569-600F-31B2-BF9EB282A2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9516" y="1924050"/>
            <a:ext cx="3379484" cy="2666804"/>
          </a:xfrm>
          <a:prstGeom prst="rect">
            <a:avLst/>
          </a:prstGeom>
        </p:spPr>
      </p:pic>
      <p:sp>
        <p:nvSpPr>
          <p:cNvPr id="20" name="TextBox 19">
            <a:extLst>
              <a:ext uri="{FF2B5EF4-FFF2-40B4-BE49-F238E27FC236}">
                <a16:creationId xmlns:a16="http://schemas.microsoft.com/office/drawing/2014/main" id="{BAC50515-6E45-F56F-506F-8A2EFE216349}"/>
              </a:ext>
            </a:extLst>
          </p:cNvPr>
          <p:cNvSpPr txBox="1"/>
          <p:nvPr/>
        </p:nvSpPr>
        <p:spPr>
          <a:xfrm>
            <a:off x="762000" y="4949130"/>
            <a:ext cx="3224819" cy="1384995"/>
          </a:xfrm>
          <a:prstGeom prst="rect">
            <a:avLst/>
          </a:prstGeom>
          <a:noFill/>
        </p:spPr>
        <p:txBody>
          <a:bodyPr wrap="square" rtlCol="0">
            <a:spAutoFit/>
          </a:bodyPr>
          <a:lstStyle/>
          <a:p>
            <a:r>
              <a:rPr lang="en-TH" sz="1400" dirty="0"/>
              <a:t>Majority Baseline อาศัยความได้เปรียบจากตลาดที่เป็นขาขึ้น (Class imbalance) โดยทายว่าตลาดจะ "ขึ้น" ทุกวัน ทำให้ได้ค่าความแม่นยำดิบ (Raw accuracy) สูงถึง 54.77% แต่มีค่า ROC AUC เพียง 0.50 ซึ่งหมายความว่าไม่มีความสามารถในการแยกแยะสภาวะตลาดเลย</a:t>
            </a:r>
          </a:p>
        </p:txBody>
      </p:sp>
      <p:sp>
        <p:nvSpPr>
          <p:cNvPr id="21" name="TextBox 20">
            <a:extLst>
              <a:ext uri="{FF2B5EF4-FFF2-40B4-BE49-F238E27FC236}">
                <a16:creationId xmlns:a16="http://schemas.microsoft.com/office/drawing/2014/main" id="{18888AC6-97E4-2F1E-768C-2264318E29D6}"/>
              </a:ext>
            </a:extLst>
          </p:cNvPr>
          <p:cNvSpPr txBox="1"/>
          <p:nvPr/>
        </p:nvSpPr>
        <p:spPr>
          <a:xfrm>
            <a:off x="4368998" y="4949130"/>
            <a:ext cx="2798936" cy="954107"/>
          </a:xfrm>
          <a:prstGeom prst="rect">
            <a:avLst/>
          </a:prstGeom>
          <a:noFill/>
        </p:spPr>
        <p:txBody>
          <a:bodyPr wrap="square" rtlCol="0">
            <a:spAutoFit/>
          </a:bodyPr>
          <a:lstStyle/>
          <a:p>
            <a:r>
              <a:rPr lang="en-TH" sz="1400" dirty="0"/>
              <a:t>Gradient Boosting มีค่าความแม่นยำดิบลดลงเล็กน้อยที่ 53.00% แต่มอบประสิทธิภาพที่แท้จริงเหนือกว่า ด้วยค่า Balanced Accuracy ที่ 52.74% และค่า ROC AUC ที่ 0.53</a:t>
            </a:r>
          </a:p>
        </p:txBody>
      </p:sp>
      <p:sp>
        <p:nvSpPr>
          <p:cNvPr id="22" name="TextBox 21">
            <a:extLst>
              <a:ext uri="{FF2B5EF4-FFF2-40B4-BE49-F238E27FC236}">
                <a16:creationId xmlns:a16="http://schemas.microsoft.com/office/drawing/2014/main" id="{E6CEDCC6-091E-6D97-F15A-5A99AA5766A7}"/>
              </a:ext>
            </a:extLst>
          </p:cNvPr>
          <p:cNvSpPr txBox="1"/>
          <p:nvPr/>
        </p:nvSpPr>
        <p:spPr>
          <a:xfrm>
            <a:off x="7743374" y="4873839"/>
            <a:ext cx="3305626" cy="1815882"/>
          </a:xfrm>
          <a:prstGeom prst="rect">
            <a:avLst/>
          </a:prstGeom>
          <a:noFill/>
        </p:spPr>
        <p:txBody>
          <a:bodyPr wrap="square" rtlCol="0">
            <a:spAutoFit/>
          </a:bodyPr>
          <a:lstStyle/>
          <a:p>
            <a:r>
              <a:rPr lang="en-TH" sz="1400" dirty="0"/>
              <a:t>หลักฐานที่ชัดเจนที่สุดคือ Confusion Matrix ที่พิสูจน์ว่าโมเดล Gradient Boosting สามารถเรียนรู้ที่จะแยกแยะและดักจับจังหวะตลาด ขาลงหรือทรงตัว (Down or flat) ได้ถูกต้องถึง 64 วัน และขาขึ้น (Up) ได้ถูกต้อง 86 วัน บนข้อมูลที่ไม่เคยเห็นมาก่อน ทำให้โมเดลนี้สามารถนำไปประยุกต์ใช้เพื่อบริหารความเสี่ยงในระบบเทร (Algorithmic trading) ได้จริง ต่างจาก Baseline ที่ทายได้เพียงหน้าเดียว</a:t>
            </a:r>
          </a:p>
        </p:txBody>
      </p:sp>
    </p:spTree>
    <p:extLst>
      <p:ext uri="{BB962C8B-B14F-4D97-AF65-F5344CB8AC3E}">
        <p14:creationId xmlns:p14="http://schemas.microsoft.com/office/powerpoint/2010/main" val="1169259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669D6AC-EE50-4106-88A3-E2394237722F}"/>
              </a:ext>
            </a:extLst>
          </p:cNvPr>
          <p:cNvSpPr>
            <a:spLocks noGrp="1"/>
          </p:cNvSpPr>
          <p:nvPr/>
        </p:nvSpPr>
        <p:spPr>
          <a:xfrm>
            <a:off x="609600" y="342900"/>
            <a:ext cx="10668000" cy="571500"/>
          </a:xfrm>
          <a:prstGeom prst="rect">
            <a:avLst/>
          </a:prstGeom>
          <a:noFill/>
          <a:ln w="0">
            <a:noFill/>
          </a:ln>
        </p:spPr>
        <p:txBody>
          <a:bodyPr anchor="ctr"/>
          <a:lstStyle/>
          <a:p>
            <a:pPr algn="l">
              <a:defRPr sz="2550" b="1">
                <a:solidFill>
                  <a:srgbClr val="16324F"/>
                </a:solidFill>
                <a:latin typeface="Helvetica Neue"/>
                <a:ea typeface="Helvetica Neue"/>
                <a:cs typeface="Helvetica Neue"/>
              </a:defRPr>
            </a:pPr>
            <a:r>
              <a:rPr sz="2550" b="1" dirty="0">
                <a:solidFill>
                  <a:srgbClr val="16324F"/>
                </a:solidFill>
                <a:latin typeface="Helvetica Neue"/>
                <a:ea typeface="Helvetica Neue"/>
                <a:cs typeface="Helvetica Neue"/>
              </a:rPr>
              <a:t>Conclusion and </a:t>
            </a:r>
            <a:r>
              <a:rPr lang="en-US" sz="2550" b="1" dirty="0">
                <a:solidFill>
                  <a:srgbClr val="16324F"/>
                </a:solidFill>
                <a:latin typeface="Helvetica Neue"/>
                <a:ea typeface="Helvetica Neue"/>
                <a:cs typeface="Helvetica Neue"/>
              </a:rPr>
              <a:t>Recommendations</a:t>
            </a:r>
            <a:endParaRPr sz="2550" b="1" dirty="0">
              <a:solidFill>
                <a:srgbClr val="16324F"/>
              </a:solidFill>
              <a:latin typeface="Helvetica Neue"/>
              <a:ea typeface="Helvetica Neue"/>
              <a:cs typeface="Helvetica Neue"/>
            </a:endParaRPr>
          </a:p>
        </p:txBody>
      </p:sp>
      <p:sp>
        <p:nvSpPr>
          <p:cNvPr id="2" name="Rectangle 1">
            <a:extLst>
              <a:ext uri="{FF2B5EF4-FFF2-40B4-BE49-F238E27FC236}">
                <a16:creationId xmlns:a16="http://schemas.microsoft.com/office/drawing/2014/main" id="{7A9CE6F9-F61C-4713-AC23-880C0B2B1DF6}"/>
              </a:ext>
            </a:extLst>
          </p:cNvPr>
          <p:cNvSpPr>
            <a:spLocks noGrp="1"/>
          </p:cNvSpPr>
          <p:nvPr/>
        </p:nvSpPr>
        <p:spPr>
          <a:xfrm>
            <a:off x="11239500" y="6334125"/>
            <a:ext cx="342900" cy="228600"/>
          </a:xfrm>
          <a:prstGeom prst="rect">
            <a:avLst/>
          </a:prstGeom>
          <a:noFill/>
          <a:ln w="0">
            <a:noFill/>
          </a:ln>
        </p:spPr>
        <p:txBody>
          <a:bodyPr anchor="ctr"/>
          <a:lstStyle/>
          <a:p>
            <a:pPr algn="r">
              <a:defRPr sz="1050" b="0">
                <a:solidFill>
                  <a:srgbClr val="6B7280"/>
                </a:solidFill>
                <a:latin typeface="Helvetica Neue"/>
                <a:ea typeface="Helvetica Neue"/>
                <a:cs typeface="Helvetica Neue"/>
              </a:defRPr>
            </a:pPr>
            <a:r>
              <a:rPr sz="1050" b="0">
                <a:solidFill>
                  <a:srgbClr val="6B7280"/>
                </a:solidFill>
                <a:latin typeface="Helvetica Neue"/>
                <a:ea typeface="Helvetica Neue"/>
                <a:cs typeface="Helvetica Neue"/>
              </a:rPr>
              <a:t>11</a:t>
            </a:r>
          </a:p>
        </p:txBody>
      </p:sp>
      <p:sp>
        <p:nvSpPr>
          <p:cNvPr id="3" name="Rectangle 2">
            <a:extLst>
              <a:ext uri="{FF2B5EF4-FFF2-40B4-BE49-F238E27FC236}">
                <a16:creationId xmlns:a16="http://schemas.microsoft.com/office/drawing/2014/main" id="{F986B1AE-7DCF-41BD-8C6A-5C743DA88FDF}"/>
              </a:ext>
            </a:extLst>
          </p:cNvPr>
          <p:cNvSpPr>
            <a:spLocks noGrp="1"/>
          </p:cNvSpPr>
          <p:nvPr/>
        </p:nvSpPr>
        <p:spPr>
          <a:xfrm>
            <a:off x="609600" y="1066800"/>
            <a:ext cx="10972800" cy="28575"/>
          </a:xfrm>
          <a:prstGeom prst="rect">
            <a:avLst/>
          </a:prstGeom>
          <a:solidFill>
            <a:srgbClr val="2F80ED"/>
          </a:solidFill>
          <a:ln w="0">
            <a:noFill/>
          </a:ln>
        </p:spPr>
        <p:txBody>
          <a:bodyPr/>
          <a:lstStyle/>
          <a:p>
            <a:endParaRPr lang="en-TH"/>
          </a:p>
        </p:txBody>
      </p:sp>
      <p:sp>
        <p:nvSpPr>
          <p:cNvPr id="4" name="Rectangle 3">
            <a:extLst>
              <a:ext uri="{FF2B5EF4-FFF2-40B4-BE49-F238E27FC236}">
                <a16:creationId xmlns:a16="http://schemas.microsoft.com/office/drawing/2014/main" id="{A176AE4B-BF2E-494F-927A-EBE5CD714174}"/>
              </a:ext>
            </a:extLst>
          </p:cNvPr>
          <p:cNvSpPr>
            <a:spLocks noGrp="1"/>
          </p:cNvSpPr>
          <p:nvPr/>
        </p:nvSpPr>
        <p:spPr>
          <a:xfrm>
            <a:off x="762000" y="1381125"/>
            <a:ext cx="10820400" cy="400050"/>
          </a:xfrm>
          <a:prstGeom prst="rect">
            <a:avLst/>
          </a:prstGeom>
          <a:noFill/>
          <a:ln w="0">
            <a:noFill/>
          </a:ln>
        </p:spPr>
        <p:txBody>
          <a:bodyPr anchor="ctr"/>
          <a:lstStyle/>
          <a:p>
            <a:pPr>
              <a:defRPr sz="2250" b="1">
                <a:solidFill>
                  <a:srgbClr val="16324F"/>
                </a:solidFill>
                <a:latin typeface="Helvetica Neue"/>
                <a:ea typeface="Helvetica Neue"/>
                <a:cs typeface="Helvetica Neue"/>
              </a:defRPr>
            </a:pPr>
            <a:r>
              <a:rPr lang="en-US" sz="2250" b="1" dirty="0">
                <a:solidFill>
                  <a:srgbClr val="16324F"/>
                </a:solidFill>
                <a:latin typeface="Helvetica Neue"/>
                <a:ea typeface="Helvetica Neue"/>
                <a:cs typeface="Helvetica Neue"/>
              </a:rPr>
              <a:t>The </a:t>
            </a:r>
            <a:r>
              <a:rPr lang="en-TH" sz="2250" b="1" dirty="0">
                <a:solidFill>
                  <a:srgbClr val="16324F"/>
                </a:solidFill>
                <a:latin typeface="Helvetica Neue"/>
              </a:rPr>
              <a:t>analysis yields three primary conclusions answering our initial objectives </a:t>
            </a:r>
            <a:endParaRPr sz="2250" b="1" dirty="0">
              <a:solidFill>
                <a:srgbClr val="16324F"/>
              </a:solidFill>
              <a:latin typeface="Helvetica Neue"/>
              <a:ea typeface="Helvetica Neue"/>
              <a:cs typeface="Helvetica Neue"/>
            </a:endParaRPr>
          </a:p>
        </p:txBody>
      </p:sp>
      <p:sp>
        <p:nvSpPr>
          <p:cNvPr id="7" name="Rectangle 6">
            <a:extLst>
              <a:ext uri="{FF2B5EF4-FFF2-40B4-BE49-F238E27FC236}">
                <a16:creationId xmlns:a16="http://schemas.microsoft.com/office/drawing/2014/main" id="{8B141508-0FCC-4EE0-AE0D-4EB03A0CE70E}"/>
              </a:ext>
            </a:extLst>
          </p:cNvPr>
          <p:cNvSpPr>
            <a:spLocks noGrp="1"/>
          </p:cNvSpPr>
          <p:nvPr/>
        </p:nvSpPr>
        <p:spPr>
          <a:xfrm>
            <a:off x="857250" y="2109788"/>
            <a:ext cx="228600" cy="734218"/>
          </a:xfrm>
          <a:prstGeom prst="rect">
            <a:avLst/>
          </a:prstGeom>
          <a:noFill/>
          <a:ln w="0">
            <a:noFill/>
          </a:ln>
        </p:spPr>
        <p:txBody>
          <a:bodyPr anchor="ctr"/>
          <a:lstStyle/>
          <a:p>
            <a:pPr algn="l">
              <a:defRPr sz="1650" b="1">
                <a:solidFill>
                  <a:srgbClr val="2F80ED"/>
                </a:solidFill>
                <a:latin typeface="Helvetica Neue"/>
                <a:ea typeface="Helvetica Neue"/>
                <a:cs typeface="Helvetica Neue"/>
              </a:defRPr>
            </a:pPr>
            <a:r>
              <a:rPr sz="1600" b="1">
                <a:solidFill>
                  <a:srgbClr val="2F80ED"/>
                </a:solidFill>
                <a:latin typeface="Helvetica Neue"/>
                <a:ea typeface="Helvetica Neue"/>
                <a:cs typeface="Helvetica Neue"/>
              </a:rPr>
              <a:t>•</a:t>
            </a:r>
          </a:p>
        </p:txBody>
      </p:sp>
      <p:sp>
        <p:nvSpPr>
          <p:cNvPr id="8" name="Rectangle 7">
            <a:extLst>
              <a:ext uri="{FF2B5EF4-FFF2-40B4-BE49-F238E27FC236}">
                <a16:creationId xmlns:a16="http://schemas.microsoft.com/office/drawing/2014/main" id="{AB1D2C4B-4861-4104-B16E-D4AF7C72975A}"/>
              </a:ext>
            </a:extLst>
          </p:cNvPr>
          <p:cNvSpPr>
            <a:spLocks noGrp="1"/>
          </p:cNvSpPr>
          <p:nvPr/>
        </p:nvSpPr>
        <p:spPr>
          <a:xfrm>
            <a:off x="1181100" y="2109788"/>
            <a:ext cx="9582150" cy="881062"/>
          </a:xfrm>
          <a:prstGeom prst="rect">
            <a:avLst/>
          </a:prstGeom>
          <a:noFill/>
          <a:ln w="0">
            <a:noFill/>
          </a:ln>
        </p:spPr>
        <p:txBody>
          <a:bodyPr anchor="ctr"/>
          <a:lstStyle/>
          <a:p>
            <a:r>
              <a:rPr lang="en-TH" sz="1600" dirty="0"/>
              <a:t>Volatility is the Primary Driver </a:t>
            </a:r>
            <a:r>
              <a:rPr lang="en-TH" sz="1600" b="1" dirty="0"/>
              <a:t>ความผันผวนเป็นปัจจัยสำคัญที่สุด</a:t>
            </a:r>
            <a:endParaRPr lang="en-TH" sz="1600" dirty="0"/>
          </a:p>
          <a:p>
            <a:r>
              <a:rPr lang="en-TH" sz="1600" dirty="0"/>
              <a:t>In a 1-day prediction horizon for tech-heavy ETFs like QQQ, volatility metrics (ATR) and short-term momentum (RSI) are far more predictive than traditional lagging trend indicators (Moving Averages or MACD).</a:t>
            </a:r>
          </a:p>
        </p:txBody>
      </p:sp>
      <p:sp>
        <p:nvSpPr>
          <p:cNvPr id="9" name="Rectangle 8">
            <a:extLst>
              <a:ext uri="{FF2B5EF4-FFF2-40B4-BE49-F238E27FC236}">
                <a16:creationId xmlns:a16="http://schemas.microsoft.com/office/drawing/2014/main" id="{CE438EF1-65F4-4429-A3D7-46E732C584C2}"/>
              </a:ext>
            </a:extLst>
          </p:cNvPr>
          <p:cNvSpPr>
            <a:spLocks noGrp="1"/>
          </p:cNvSpPr>
          <p:nvPr/>
        </p:nvSpPr>
        <p:spPr>
          <a:xfrm>
            <a:off x="857250" y="3319463"/>
            <a:ext cx="228600" cy="734218"/>
          </a:xfrm>
          <a:prstGeom prst="rect">
            <a:avLst/>
          </a:prstGeom>
          <a:noFill/>
          <a:ln w="0">
            <a:noFill/>
          </a:ln>
        </p:spPr>
        <p:txBody>
          <a:bodyPr anchor="ctr"/>
          <a:lstStyle/>
          <a:p>
            <a:pPr algn="l">
              <a:defRPr sz="1650" b="1">
                <a:solidFill>
                  <a:srgbClr val="2F80ED"/>
                </a:solidFill>
                <a:latin typeface="Helvetica Neue"/>
                <a:ea typeface="Helvetica Neue"/>
                <a:cs typeface="Helvetica Neue"/>
              </a:defRPr>
            </a:pPr>
            <a:r>
              <a:rPr sz="1650" b="1" dirty="0">
                <a:solidFill>
                  <a:srgbClr val="2F80ED"/>
                </a:solidFill>
                <a:latin typeface="Helvetica Neue"/>
                <a:ea typeface="Helvetica Neue"/>
                <a:cs typeface="Helvetica Neue"/>
              </a:rPr>
              <a:t>•</a:t>
            </a:r>
          </a:p>
        </p:txBody>
      </p:sp>
      <p:sp>
        <p:nvSpPr>
          <p:cNvPr id="10" name="Rectangle 9">
            <a:extLst>
              <a:ext uri="{FF2B5EF4-FFF2-40B4-BE49-F238E27FC236}">
                <a16:creationId xmlns:a16="http://schemas.microsoft.com/office/drawing/2014/main" id="{8304518E-B3BA-402C-8918-A95E9D5F68DB}"/>
              </a:ext>
            </a:extLst>
          </p:cNvPr>
          <p:cNvSpPr>
            <a:spLocks noGrp="1"/>
          </p:cNvSpPr>
          <p:nvPr/>
        </p:nvSpPr>
        <p:spPr>
          <a:xfrm>
            <a:off x="1181100" y="3319462"/>
            <a:ext cx="9582150" cy="881061"/>
          </a:xfrm>
          <a:prstGeom prst="rect">
            <a:avLst/>
          </a:prstGeom>
          <a:noFill/>
          <a:ln w="0">
            <a:noFill/>
          </a:ln>
        </p:spPr>
        <p:txBody>
          <a:bodyPr anchor="ctr"/>
          <a:lstStyle/>
          <a:p>
            <a:r>
              <a:rPr lang="en-TH" sz="1600" dirty="0"/>
              <a:t>Beware the Accuracy Illusion </a:t>
            </a:r>
            <a:r>
              <a:rPr lang="en-TH" sz="1600" b="1" dirty="0"/>
              <a:t>ควรระวังภาพลวงตาจากค่า </a:t>
            </a:r>
            <a:r>
              <a:rPr lang="en-TH" sz="1600" dirty="0"/>
              <a:t>Accuracy </a:t>
            </a:r>
          </a:p>
          <a:p>
            <a:r>
              <a:rPr lang="en-TH" sz="1600" dirty="0"/>
              <a:t>The Majority Baseline proves that raw accuracy is a dangerously misleading metric in bullish markets. Gradient Boosting's ability to achieve a positive ROC AUC edge (&gt;0.50) confirms its utility in genuine algorithmic trading systems where risk management on "Down" days is critical.</a:t>
            </a:r>
          </a:p>
        </p:txBody>
      </p:sp>
      <p:sp>
        <p:nvSpPr>
          <p:cNvPr id="11" name="Rectangle 10">
            <a:extLst>
              <a:ext uri="{FF2B5EF4-FFF2-40B4-BE49-F238E27FC236}">
                <a16:creationId xmlns:a16="http://schemas.microsoft.com/office/drawing/2014/main" id="{3D93D925-CE10-4B47-B725-1C9881A533B2}"/>
              </a:ext>
            </a:extLst>
          </p:cNvPr>
          <p:cNvSpPr>
            <a:spLocks noGrp="1"/>
          </p:cNvSpPr>
          <p:nvPr/>
        </p:nvSpPr>
        <p:spPr>
          <a:xfrm>
            <a:off x="857250" y="5095875"/>
            <a:ext cx="228600" cy="381000"/>
          </a:xfrm>
          <a:prstGeom prst="rect">
            <a:avLst/>
          </a:prstGeom>
          <a:noFill/>
          <a:ln w="0">
            <a:noFill/>
          </a:ln>
        </p:spPr>
        <p:txBody>
          <a:bodyPr anchor="ctr"/>
          <a:lstStyle/>
          <a:p>
            <a:pPr algn="l">
              <a:defRPr sz="1650" b="1">
                <a:solidFill>
                  <a:srgbClr val="2F80ED"/>
                </a:solidFill>
                <a:latin typeface="Helvetica Neue"/>
                <a:ea typeface="Helvetica Neue"/>
                <a:cs typeface="Helvetica Neue"/>
              </a:defRPr>
            </a:pPr>
            <a:r>
              <a:rPr sz="1650" b="1" dirty="0">
                <a:solidFill>
                  <a:srgbClr val="2F80ED"/>
                </a:solidFill>
                <a:latin typeface="Helvetica Neue"/>
                <a:ea typeface="Helvetica Neue"/>
                <a:cs typeface="Helvetica Neue"/>
              </a:rPr>
              <a:t>•</a:t>
            </a:r>
          </a:p>
        </p:txBody>
      </p:sp>
      <p:sp>
        <p:nvSpPr>
          <p:cNvPr id="12" name="Rectangle 11">
            <a:extLst>
              <a:ext uri="{FF2B5EF4-FFF2-40B4-BE49-F238E27FC236}">
                <a16:creationId xmlns:a16="http://schemas.microsoft.com/office/drawing/2014/main" id="{99771584-D994-4483-8C37-A512085705B7}"/>
              </a:ext>
            </a:extLst>
          </p:cNvPr>
          <p:cNvSpPr>
            <a:spLocks noGrp="1"/>
          </p:cNvSpPr>
          <p:nvPr/>
        </p:nvSpPr>
        <p:spPr>
          <a:xfrm>
            <a:off x="1181100" y="4529135"/>
            <a:ext cx="9582150" cy="1543050"/>
          </a:xfrm>
          <a:prstGeom prst="rect">
            <a:avLst/>
          </a:prstGeom>
          <a:noFill/>
          <a:ln w="0">
            <a:noFill/>
          </a:ln>
        </p:spPr>
        <p:txBody>
          <a:bodyPr anchor="ctr"/>
          <a:lstStyle/>
          <a:p>
            <a:r>
              <a:rPr lang="en-TH" dirty="0"/>
              <a:t>Recommendation for Deployment </a:t>
            </a:r>
            <a:r>
              <a:rPr lang="en-TH" b="1" dirty="0"/>
              <a:t>ข้อเสนอแนะสำหรับการนำโมเดลไปพัฒนาต่อ </a:t>
            </a:r>
            <a:endParaRPr lang="en-TH" dirty="0"/>
          </a:p>
          <a:p>
            <a:r>
              <a:rPr lang="en-TH" dirty="0"/>
              <a:t>Algorithmic trading developers should reduce dimensionality by discarding redundant trend </a:t>
            </a:r>
            <a:r>
              <a:rPr lang="en-TH" sz="1600" dirty="0"/>
              <a:t>indicators</a:t>
            </a:r>
            <a:r>
              <a:rPr lang="en-TH" dirty="0"/>
              <a:t> and focusing computational resources on tracking volatility and momentum. Future iterations of this project should explore extending the prediction horizon (e.g., 5-day swing trading) to further filter out daily market noise.</a:t>
            </a:r>
          </a:p>
        </p:txBody>
      </p:sp>
      <p:sp>
        <p:nvSpPr>
          <p:cNvPr id="15" name="Rectangle 14">
            <a:extLst>
              <a:ext uri="{FF2B5EF4-FFF2-40B4-BE49-F238E27FC236}">
                <a16:creationId xmlns:a16="http://schemas.microsoft.com/office/drawing/2014/main" id="{BA4A0693-4015-481C-A837-CECE3F701818}"/>
              </a:ext>
            </a:extLst>
          </p:cNvPr>
          <p:cNvSpPr>
            <a:spLocks noGrp="1"/>
          </p:cNvSpPr>
          <p:nvPr/>
        </p:nvSpPr>
        <p:spPr>
          <a:xfrm>
            <a:off x="8858250" y="6096000"/>
            <a:ext cx="2381250" cy="266700"/>
          </a:xfrm>
          <a:prstGeom prst="rect">
            <a:avLst/>
          </a:prstGeom>
          <a:noFill/>
          <a:ln w="0">
            <a:noFill/>
          </a:ln>
        </p:spPr>
        <p:txBody>
          <a:bodyPr anchor="ctr"/>
          <a:lstStyle/>
          <a:p>
            <a:pPr algn="r">
              <a:defRPr sz="1200" b="0">
                <a:solidFill>
                  <a:srgbClr val="6B7280"/>
                </a:solidFill>
                <a:latin typeface="Helvetica Neue"/>
                <a:ea typeface="Helvetica Neue"/>
                <a:cs typeface="Helvetica Neue"/>
              </a:defRPr>
            </a:pPr>
            <a:r>
              <a:rPr sz="1200" b="0">
                <a:solidFill>
                  <a:srgbClr val="6B7280"/>
                </a:solidFill>
                <a:latin typeface="Helvetica Neue"/>
                <a:ea typeface="Helvetica Neue"/>
                <a:cs typeface="Helvetica Neue"/>
              </a:rPr>
              <a:t>Educational analysis only</a:t>
            </a:r>
          </a:p>
        </p:txBody>
      </p:sp>
    </p:spTree>
    <p:extLst>
      <p:ext uri="{BB962C8B-B14F-4D97-AF65-F5344CB8AC3E}">
        <p14:creationId xmlns:p14="http://schemas.microsoft.com/office/powerpoint/2010/main" val="11071424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3641</Words>
  <Application>Microsoft Macintosh PowerPoint</Application>
  <DocSecurity>0</DocSecurity>
  <PresentationFormat>Widescreen</PresentationFormat>
  <Paragraphs>246</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Tien Hanprab</cp:lastModifiedBy>
  <cp:revision>56</cp:revision>
  <dcterms:created xsi:type="dcterms:W3CDTF">2026-09-16T13:21:08Z</dcterms:created>
  <dcterms:modified xsi:type="dcterms:W3CDTF">2026-09-26T01:34:34Z</dcterms:modified>
</cp:coreProperties>
</file>